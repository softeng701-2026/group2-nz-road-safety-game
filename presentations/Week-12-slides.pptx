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WenQuanYi" charset="1" panose="020B0606030804020204"/>
      <p:regular r:id="rId30"/>
    </p:embeddedFont>
    <p:embeddedFont>
      <p:font typeface="Genty Sans" charset="1" panose="00000600000000000000"/>
      <p:regular r:id="rId31"/>
    </p:embeddedFont>
    <p:embeddedFont>
      <p:font typeface="Lexend Deca" charset="1" panose="00000000000000000000"/>
      <p:regular r:id="rId32"/>
    </p:embeddedFont>
    <p:embeddedFont>
      <p:font typeface="Canva Sans Bold" charset="1" panose="020B0803030501040103"/>
      <p:regular r:id="rId33"/>
    </p:embeddedFont>
    <p:embeddedFont>
      <p:font typeface="Canva Sans" charset="1" panose="020B0503030501040103"/>
      <p:regular r:id="rId34"/>
    </p:embeddedFont>
    <p:embeddedFont>
      <p:font typeface="Better Together Caps" charset="1" panose="020005060000000200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</a:t>
            </a:r>
          </a:p>
          <a:p>
            <a:r>
              <a:rPr lang="en-US"/>
              <a:t>Current evaluation involved only a small number of learners, which may not represent diverse driving backgrounds.</a:t>
            </a:r>
          </a:p>
          <a:p>
            <a:r>
              <a:rPr lang="en-US"/>
              <a:t/>
            </a:r>
          </a:p>
          <a:p>
            <a:r>
              <a:rPr lang="en-US"/>
              <a:t>2. </a:t>
            </a:r>
          </a:p>
          <a:p>
            <a:r>
              <a:rPr lang="en-US"/>
              <a:t>Vehicle dynamics and collision responses are simplified to meet time and performance constraints.</a:t>
            </a:r>
          </a:p>
          <a:p>
            <a:r>
              <a:rPr lang="en-US"/>
              <a:t/>
            </a:r>
          </a:p>
          <a:p>
            <a:r>
              <a:rPr lang="en-US"/>
              <a:t>3. </a:t>
            </a:r>
          </a:p>
          <a:p>
            <a:r>
              <a:rPr lang="en-US"/>
              <a:t>The current prototype includes mainly straight roads with minimal turning or curved segments, reducing realism and variety.</a:t>
            </a:r>
          </a:p>
          <a:p>
            <a:r>
              <a:rPr lang="en-US"/>
              <a:t/>
            </a:r>
          </a:p>
          <a:p>
            <a:r>
              <a:rPr lang="en-US"/>
              <a:t>4. </a:t>
            </a:r>
          </a:p>
          <a:p>
            <a:r>
              <a:rPr lang="en-US"/>
              <a:t>Touch‑based steering and UI layout are less responsive and less precise compared to desktop controls.</a:t>
            </a:r>
          </a:p>
          <a:p>
            <a:r>
              <a:rPr lang="en-US"/>
              <a:t/>
            </a:r>
          </a:p>
          <a:p>
            <a:r>
              <a:rPr lang="en-US"/>
              <a:t>5.</a:t>
            </a:r>
          </a:p>
          <a:p>
            <a:r>
              <a:rPr lang="en-US"/>
              <a:t>The current version lacks features such as adjustable text size, high‑contrast mode, alternative input methods, and audio guidance.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</a:t>
            </a:r>
          </a:p>
          <a:p>
            <a:r>
              <a:rPr lang="en-US"/>
              <a:t>To validate learning effectiveness across different driving backgrounds and cultural contexts.</a:t>
            </a:r>
          </a:p>
          <a:p>
            <a:r>
              <a:rPr lang="en-US"/>
              <a:t/>
            </a:r>
          </a:p>
          <a:p>
            <a:r>
              <a:rPr lang="en-US"/>
              <a:t>2. </a:t>
            </a:r>
          </a:p>
          <a:p>
            <a:r>
              <a:rPr lang="en-US"/>
              <a:t>Introduce more accurate vehicle dynamics, braking behavior, and collision responses to improve authenticity.</a:t>
            </a:r>
          </a:p>
          <a:p>
            <a:r>
              <a:rPr lang="en-US"/>
              <a:t/>
            </a:r>
          </a:p>
          <a:p>
            <a:r>
              <a:rPr lang="en-US"/>
              <a:t>3. </a:t>
            </a:r>
          </a:p>
          <a:p>
            <a:r>
              <a:rPr lang="en-US"/>
              <a:t>Add curved roads, intersections, roundabouts, and more complex real‑world driving situations.</a:t>
            </a:r>
          </a:p>
          <a:p>
            <a:r>
              <a:rPr lang="en-US"/>
              <a:t/>
            </a:r>
          </a:p>
          <a:p>
            <a:r>
              <a:rPr lang="en-US"/>
              <a:t>4.</a:t>
            </a:r>
          </a:p>
          <a:p>
            <a:r>
              <a:rPr lang="en-US"/>
              <a:t>Refine touch‑based steering, optimize layout spacing, and enhance overall mobile usability.</a:t>
            </a:r>
          </a:p>
          <a:p>
            <a:r>
              <a:rPr lang="en-US"/>
              <a:t/>
            </a:r>
          </a:p>
          <a:p>
            <a:r>
              <a:rPr lang="en-US"/>
              <a:t>5.</a:t>
            </a:r>
          </a:p>
          <a:p>
            <a:r>
              <a:rPr lang="en-US"/>
              <a:t>Introduce adjustable text size, high‑contrast mode, audio guidance, and alternative input methods.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36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45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8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8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8.png" Type="http://schemas.openxmlformats.org/officeDocument/2006/relationships/image"/><Relationship Id="rId13" Target="https://softeng701-2026.github.io/group2-nz-road-safety-game/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6730" y="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0" y="0"/>
                </a:lnTo>
                <a:lnTo>
                  <a:pt x="16694540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0217" y="1504202"/>
            <a:ext cx="12514677" cy="12689153"/>
          </a:xfrm>
          <a:custGeom>
            <a:avLst/>
            <a:gdLst/>
            <a:ahLst/>
            <a:cxnLst/>
            <a:rect r="r" b="b" t="t" l="l"/>
            <a:pathLst>
              <a:path h="12689153" w="12514677">
                <a:moveTo>
                  <a:pt x="0" y="0"/>
                </a:moveTo>
                <a:lnTo>
                  <a:pt x="12514676" y="0"/>
                </a:lnTo>
                <a:lnTo>
                  <a:pt x="12514676" y="12689153"/>
                </a:lnTo>
                <a:lnTo>
                  <a:pt x="0" y="126891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32392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3505119" y="0"/>
                </a:moveTo>
                <a:lnTo>
                  <a:pt x="0" y="0"/>
                </a:lnTo>
                <a:lnTo>
                  <a:pt x="0" y="9908463"/>
                </a:lnTo>
                <a:lnTo>
                  <a:pt x="3505119" y="9908463"/>
                </a:lnTo>
                <a:lnTo>
                  <a:pt x="350511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3507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0" y="0"/>
                </a:moveTo>
                <a:lnTo>
                  <a:pt x="4374493" y="0"/>
                </a:lnTo>
                <a:lnTo>
                  <a:pt x="4374493" y="2328632"/>
                </a:lnTo>
                <a:lnTo>
                  <a:pt x="0" y="232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0699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0" y="0"/>
                </a:moveTo>
                <a:lnTo>
                  <a:pt x="3505118" y="0"/>
                </a:lnTo>
                <a:lnTo>
                  <a:pt x="3505118" y="9908463"/>
                </a:lnTo>
                <a:lnTo>
                  <a:pt x="0" y="9908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4374493" y="0"/>
                </a:moveTo>
                <a:lnTo>
                  <a:pt x="0" y="0"/>
                </a:lnTo>
                <a:lnTo>
                  <a:pt x="0" y="2328632"/>
                </a:lnTo>
                <a:lnTo>
                  <a:pt x="4374493" y="2328632"/>
                </a:lnTo>
                <a:lnTo>
                  <a:pt x="4374493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730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7734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44821" y="6561842"/>
            <a:ext cx="1395264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WenQuanYi"/>
                <a:ea typeface="WenQuanYi"/>
                <a:cs typeface="WenQuanYi"/>
                <a:sym typeface="WenQuanYi"/>
              </a:rPr>
              <a:t>Team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5809" y="2812976"/>
            <a:ext cx="11983491" cy="354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8"/>
              </a:lnSpc>
            </a:pPr>
            <a:r>
              <a:rPr lang="en-US" sz="9218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Lea</a:t>
            </a:r>
            <a:r>
              <a:rPr lang="en-US" sz="9218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rning</a:t>
            </a:r>
          </a:p>
          <a:p>
            <a:pPr algn="ctr">
              <a:lnSpc>
                <a:spcPts val="9218"/>
              </a:lnSpc>
            </a:pPr>
            <a:r>
              <a:rPr lang="en-US" sz="9218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Road Safety</a:t>
            </a:r>
          </a:p>
          <a:p>
            <a:pPr algn="ctr">
              <a:lnSpc>
                <a:spcPts val="9218"/>
              </a:lnSpc>
            </a:pPr>
            <a:r>
              <a:rPr lang="en-US" sz="9218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in New Zealand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12485" y="7239473"/>
            <a:ext cx="685993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Bharat, Alvin, Huijing, Jamuna, Kurt, Yutao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994801" y="720160"/>
            <a:ext cx="3615144" cy="10219489"/>
          </a:xfrm>
          <a:custGeom>
            <a:avLst/>
            <a:gdLst/>
            <a:ahLst/>
            <a:cxnLst/>
            <a:rect r="r" b="b" t="t" l="l"/>
            <a:pathLst>
              <a:path h="10219489" w="3615144">
                <a:moveTo>
                  <a:pt x="3615144" y="0"/>
                </a:moveTo>
                <a:lnTo>
                  <a:pt x="0" y="0"/>
                </a:lnTo>
                <a:lnTo>
                  <a:pt x="0" y="10219489"/>
                </a:lnTo>
                <a:lnTo>
                  <a:pt x="3615144" y="10219489"/>
                </a:lnTo>
                <a:lnTo>
                  <a:pt x="36151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3721" y="720160"/>
            <a:ext cx="15063120" cy="15273125"/>
          </a:xfrm>
          <a:custGeom>
            <a:avLst/>
            <a:gdLst/>
            <a:ahLst/>
            <a:cxnLst/>
            <a:rect r="r" b="b" t="t" l="l"/>
            <a:pathLst>
              <a:path h="15273125" w="15063120">
                <a:moveTo>
                  <a:pt x="0" y="0"/>
                </a:moveTo>
                <a:lnTo>
                  <a:pt x="15063120" y="0"/>
                </a:lnTo>
                <a:lnTo>
                  <a:pt x="15063120" y="15273125"/>
                </a:lnTo>
                <a:lnTo>
                  <a:pt x="0" y="1527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9229" y="1523280"/>
            <a:ext cx="2139491" cy="2139491"/>
          </a:xfrm>
          <a:custGeom>
            <a:avLst/>
            <a:gdLst/>
            <a:ahLst/>
            <a:cxnLst/>
            <a:rect r="r" b="b" t="t" l="l"/>
            <a:pathLst>
              <a:path h="2139491" w="2139491">
                <a:moveTo>
                  <a:pt x="0" y="0"/>
                </a:moveTo>
                <a:lnTo>
                  <a:pt x="2139491" y="0"/>
                </a:lnTo>
                <a:lnTo>
                  <a:pt x="2139491" y="2139491"/>
                </a:lnTo>
                <a:lnTo>
                  <a:pt x="0" y="21394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72560" y="3462746"/>
            <a:ext cx="14445442" cy="465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021" indent="-386010" lvl="1">
              <a:lnSpc>
                <a:spcPts val="6364"/>
              </a:lnSpc>
              <a:buFont typeface="Arial"/>
              <a:buChar char="•"/>
            </a:pPr>
            <a:r>
              <a:rPr lang="en-US" sz="35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Learning Road Safety in New Zealand</a:t>
            </a:r>
          </a:p>
          <a:p>
            <a:pPr algn="l" marL="772021" indent="-386010" lvl="1">
              <a:lnSpc>
                <a:spcPts val="6364"/>
              </a:lnSpc>
              <a:buFont typeface="Arial"/>
              <a:buChar char="•"/>
            </a:pPr>
            <a:r>
              <a:rPr lang="en-US" sz="35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 lightw</a:t>
            </a:r>
            <a:r>
              <a:rPr lang="en-US" sz="35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eight </a:t>
            </a:r>
            <a:r>
              <a:rPr lang="en-US" sz="35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road safety mini-game</a:t>
            </a:r>
          </a:p>
          <a:p>
            <a:pPr algn="l" marL="772021" indent="-386010" lvl="1">
              <a:lnSpc>
                <a:spcPts val="6364"/>
              </a:lnSpc>
              <a:buFont typeface="Arial"/>
              <a:buChar char="•"/>
            </a:pPr>
            <a:r>
              <a:rPr lang="en-US" sz="35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Player controls a car and reaches the destination</a:t>
            </a:r>
          </a:p>
          <a:p>
            <a:pPr algn="l" marL="801307" indent="-400653" lvl="1">
              <a:lnSpc>
                <a:spcPts val="6606"/>
              </a:lnSpc>
              <a:buFont typeface="Arial"/>
              <a:buChar char="•"/>
            </a:pPr>
            <a:r>
              <a:rPr lang="en-US" sz="371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Road signs and si</a:t>
            </a:r>
            <a:r>
              <a:rPr lang="en-US" sz="371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mple situations appear during gameplay</a:t>
            </a:r>
          </a:p>
          <a:p>
            <a:pPr algn="l" marL="801307" indent="-400653" lvl="1">
              <a:lnSpc>
                <a:spcPts val="6606"/>
              </a:lnSpc>
              <a:buFont typeface="Arial"/>
              <a:buChar char="•"/>
            </a:pPr>
            <a:r>
              <a:rPr lang="en-US" sz="371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</a:t>
            </a:r>
            <a:r>
              <a:rPr lang="en-US" sz="371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earning through practice and feedback</a:t>
            </a:r>
          </a:p>
          <a:p>
            <a:pPr algn="l">
              <a:lnSpc>
                <a:spcPts val="386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248432" y="2104203"/>
            <a:ext cx="809369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PROJE</a:t>
            </a: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994801" y="720160"/>
            <a:ext cx="3615144" cy="10219489"/>
          </a:xfrm>
          <a:custGeom>
            <a:avLst/>
            <a:gdLst/>
            <a:ahLst/>
            <a:cxnLst/>
            <a:rect r="r" b="b" t="t" l="l"/>
            <a:pathLst>
              <a:path h="10219489" w="3615144">
                <a:moveTo>
                  <a:pt x="3615144" y="0"/>
                </a:moveTo>
                <a:lnTo>
                  <a:pt x="0" y="0"/>
                </a:lnTo>
                <a:lnTo>
                  <a:pt x="0" y="10219489"/>
                </a:lnTo>
                <a:lnTo>
                  <a:pt x="3615144" y="10219489"/>
                </a:lnTo>
                <a:lnTo>
                  <a:pt x="36151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58977" y="1028700"/>
            <a:ext cx="13106353" cy="13289078"/>
          </a:xfrm>
          <a:custGeom>
            <a:avLst/>
            <a:gdLst/>
            <a:ahLst/>
            <a:cxnLst/>
            <a:rect r="r" b="b" t="t" l="l"/>
            <a:pathLst>
              <a:path h="13289078" w="13106353">
                <a:moveTo>
                  <a:pt x="0" y="0"/>
                </a:moveTo>
                <a:lnTo>
                  <a:pt x="13106353" y="0"/>
                </a:lnTo>
                <a:lnTo>
                  <a:pt x="13106353" y="13289078"/>
                </a:lnTo>
                <a:lnTo>
                  <a:pt x="0" y="132890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939805"/>
            <a:ext cx="2714360" cy="2714360"/>
          </a:xfrm>
          <a:custGeom>
            <a:avLst/>
            <a:gdLst/>
            <a:ahLst/>
            <a:cxnLst/>
            <a:rect r="r" b="b" t="t" l="l"/>
            <a:pathLst>
              <a:path h="2714360" w="2714360">
                <a:moveTo>
                  <a:pt x="0" y="0"/>
                </a:moveTo>
                <a:lnTo>
                  <a:pt x="2714360" y="0"/>
                </a:lnTo>
                <a:lnTo>
                  <a:pt x="2714360" y="2714360"/>
                </a:lnTo>
                <a:lnTo>
                  <a:pt x="0" y="27143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04632" y="3336224"/>
            <a:ext cx="12744372" cy="478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065" indent="-401032" lvl="1">
              <a:lnSpc>
                <a:spcPts val="6612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Newcomers may already know how to drive</a:t>
            </a:r>
          </a:p>
          <a:p>
            <a:pPr algn="l" marL="802065" indent="-401032" lvl="1">
              <a:lnSpc>
                <a:spcPts val="6612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NZ road culture m</a:t>
            </a: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ay still feel unfamilia</a:t>
            </a: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</a:p>
          <a:p>
            <a:pPr algn="l" marL="802065" indent="-401032" lvl="1">
              <a:lnSpc>
                <a:spcPts val="6612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Formal resources can be text-heavy</a:t>
            </a:r>
          </a:p>
          <a:p>
            <a:pPr algn="l" marL="802065" indent="-401032" lvl="1">
              <a:lnSpc>
                <a:spcPts val="6612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 mini-game makes learning more engaging</a:t>
            </a:r>
          </a:p>
          <a:p>
            <a:pPr algn="l" marL="802065" indent="-401032" lvl="1">
              <a:lnSpc>
                <a:spcPts val="6612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371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 is a lightweight introduction, not training</a:t>
            </a:r>
          </a:p>
          <a:p>
            <a:pPr algn="l">
              <a:lnSpc>
                <a:spcPts val="401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340172" y="2285740"/>
            <a:ext cx="6943963" cy="100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PROJE</a:t>
            </a: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CT PURPOSE</a:t>
            </a:r>
          </a:p>
          <a:p>
            <a:pPr algn="ctr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WHY THIS GAME?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2878" y="6221883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0" y="0"/>
                </a:moveTo>
                <a:lnTo>
                  <a:pt x="18450142" y="0"/>
                </a:lnTo>
                <a:lnTo>
                  <a:pt x="18450142" y="5332359"/>
                </a:lnTo>
                <a:lnTo>
                  <a:pt x="0" y="5332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2373" y="8431530"/>
            <a:ext cx="3485627" cy="1855470"/>
          </a:xfrm>
          <a:custGeom>
            <a:avLst/>
            <a:gdLst/>
            <a:ahLst/>
            <a:cxnLst/>
            <a:rect r="r" b="b" t="t" l="l"/>
            <a:pathLst>
              <a:path h="1855470" w="3485627">
                <a:moveTo>
                  <a:pt x="0" y="0"/>
                </a:moveTo>
                <a:lnTo>
                  <a:pt x="3485627" y="0"/>
                </a:lnTo>
                <a:lnTo>
                  <a:pt x="3485627" y="1855470"/>
                </a:lnTo>
                <a:lnTo>
                  <a:pt x="0" y="1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24393" y="6596923"/>
            <a:ext cx="8065331" cy="4293340"/>
          </a:xfrm>
          <a:custGeom>
            <a:avLst/>
            <a:gdLst/>
            <a:ahLst/>
            <a:cxnLst/>
            <a:rect r="r" b="b" t="t" l="l"/>
            <a:pathLst>
              <a:path h="4293340" w="8065331">
                <a:moveTo>
                  <a:pt x="8065331" y="0"/>
                </a:moveTo>
                <a:lnTo>
                  <a:pt x="0" y="0"/>
                </a:lnTo>
                <a:lnTo>
                  <a:pt x="0" y="4293340"/>
                </a:lnTo>
                <a:lnTo>
                  <a:pt x="8065331" y="4293340"/>
                </a:lnTo>
                <a:lnTo>
                  <a:pt x="8065331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3807" y="892315"/>
            <a:ext cx="3518016" cy="9944922"/>
          </a:xfrm>
          <a:custGeom>
            <a:avLst/>
            <a:gdLst/>
            <a:ahLst/>
            <a:cxnLst/>
            <a:rect r="r" b="b" t="t" l="l"/>
            <a:pathLst>
              <a:path h="9944922" w="3518016">
                <a:moveTo>
                  <a:pt x="0" y="0"/>
                </a:moveTo>
                <a:lnTo>
                  <a:pt x="3518016" y="0"/>
                </a:lnTo>
                <a:lnTo>
                  <a:pt x="3518016" y="9944922"/>
                </a:lnTo>
                <a:lnTo>
                  <a:pt x="0" y="9944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59279" y="-471698"/>
            <a:ext cx="5212026" cy="5218550"/>
          </a:xfrm>
          <a:custGeom>
            <a:avLst/>
            <a:gdLst/>
            <a:ahLst/>
            <a:cxnLst/>
            <a:rect r="r" b="b" t="t" l="l"/>
            <a:pathLst>
              <a:path h="5218550" w="5212026">
                <a:moveTo>
                  <a:pt x="0" y="0"/>
                </a:moveTo>
                <a:lnTo>
                  <a:pt x="5212027" y="0"/>
                </a:lnTo>
                <a:lnTo>
                  <a:pt x="5212027" y="5218549"/>
                </a:lnTo>
                <a:lnTo>
                  <a:pt x="0" y="52185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21695" y="1872424"/>
            <a:ext cx="9412380" cy="9543604"/>
          </a:xfrm>
          <a:custGeom>
            <a:avLst/>
            <a:gdLst/>
            <a:ahLst/>
            <a:cxnLst/>
            <a:rect r="r" b="b" t="t" l="l"/>
            <a:pathLst>
              <a:path h="9543604" w="9412380">
                <a:moveTo>
                  <a:pt x="0" y="0"/>
                </a:moveTo>
                <a:lnTo>
                  <a:pt x="9412379" y="0"/>
                </a:lnTo>
                <a:lnTo>
                  <a:pt x="9412379" y="9543604"/>
                </a:lnTo>
                <a:lnTo>
                  <a:pt x="0" y="95436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38646" y="1509840"/>
            <a:ext cx="1492500" cy="1320863"/>
          </a:xfrm>
          <a:custGeom>
            <a:avLst/>
            <a:gdLst/>
            <a:ahLst/>
            <a:cxnLst/>
            <a:rect r="r" b="b" t="t" l="l"/>
            <a:pathLst>
              <a:path h="1320863" w="1492500">
                <a:moveTo>
                  <a:pt x="0" y="0"/>
                </a:moveTo>
                <a:lnTo>
                  <a:pt x="1492500" y="0"/>
                </a:lnTo>
                <a:lnTo>
                  <a:pt x="1492500" y="1320863"/>
                </a:lnTo>
                <a:lnTo>
                  <a:pt x="0" y="1320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25793" y="3903301"/>
            <a:ext cx="376997" cy="333642"/>
          </a:xfrm>
          <a:custGeom>
            <a:avLst/>
            <a:gdLst/>
            <a:ahLst/>
            <a:cxnLst/>
            <a:rect r="r" b="b" t="t" l="l"/>
            <a:pathLst>
              <a:path h="333642" w="376997">
                <a:moveTo>
                  <a:pt x="0" y="0"/>
                </a:moveTo>
                <a:lnTo>
                  <a:pt x="376997" y="0"/>
                </a:lnTo>
                <a:lnTo>
                  <a:pt x="376997" y="333643"/>
                </a:lnTo>
                <a:lnTo>
                  <a:pt x="0" y="333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25793" y="4699640"/>
            <a:ext cx="438523" cy="390834"/>
          </a:xfrm>
          <a:custGeom>
            <a:avLst/>
            <a:gdLst/>
            <a:ahLst/>
            <a:cxnLst/>
            <a:rect r="r" b="b" t="t" l="l"/>
            <a:pathLst>
              <a:path h="390834" w="438523">
                <a:moveTo>
                  <a:pt x="0" y="0"/>
                </a:moveTo>
                <a:lnTo>
                  <a:pt x="438523" y="0"/>
                </a:lnTo>
                <a:lnTo>
                  <a:pt x="438523" y="390834"/>
                </a:lnTo>
                <a:lnTo>
                  <a:pt x="0" y="3908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35189" y="5958991"/>
            <a:ext cx="419731" cy="419731"/>
          </a:xfrm>
          <a:custGeom>
            <a:avLst/>
            <a:gdLst/>
            <a:ahLst/>
            <a:cxnLst/>
            <a:rect r="r" b="b" t="t" l="l"/>
            <a:pathLst>
              <a:path h="419731" w="419731">
                <a:moveTo>
                  <a:pt x="0" y="0"/>
                </a:moveTo>
                <a:lnTo>
                  <a:pt x="419731" y="0"/>
                </a:lnTo>
                <a:lnTo>
                  <a:pt x="419731" y="419731"/>
                </a:lnTo>
                <a:lnTo>
                  <a:pt x="0" y="41973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1822" y="2484168"/>
            <a:ext cx="5549957" cy="1270697"/>
          </a:xfrm>
          <a:custGeom>
            <a:avLst/>
            <a:gdLst/>
            <a:ahLst/>
            <a:cxnLst/>
            <a:rect r="r" b="b" t="t" l="l"/>
            <a:pathLst>
              <a:path h="1270697" w="5549957">
                <a:moveTo>
                  <a:pt x="0" y="0"/>
                </a:moveTo>
                <a:lnTo>
                  <a:pt x="5549957" y="0"/>
                </a:lnTo>
                <a:lnTo>
                  <a:pt x="5549957" y="1270698"/>
                </a:lnTo>
                <a:lnTo>
                  <a:pt x="0" y="1270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1822" y="4070123"/>
            <a:ext cx="5549957" cy="1270697"/>
          </a:xfrm>
          <a:custGeom>
            <a:avLst/>
            <a:gdLst/>
            <a:ahLst/>
            <a:cxnLst/>
            <a:rect r="r" b="b" t="t" l="l"/>
            <a:pathLst>
              <a:path h="1270697" w="5549957">
                <a:moveTo>
                  <a:pt x="0" y="0"/>
                </a:moveTo>
                <a:lnTo>
                  <a:pt x="5549957" y="0"/>
                </a:lnTo>
                <a:lnTo>
                  <a:pt x="5549957" y="1270697"/>
                </a:lnTo>
                <a:lnTo>
                  <a:pt x="0" y="127069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7973" y="5656077"/>
            <a:ext cx="5917656" cy="1583067"/>
          </a:xfrm>
          <a:custGeom>
            <a:avLst/>
            <a:gdLst/>
            <a:ahLst/>
            <a:cxnLst/>
            <a:rect r="r" b="b" t="t" l="l"/>
            <a:pathLst>
              <a:path h="1583067" w="5917656">
                <a:moveTo>
                  <a:pt x="0" y="0"/>
                </a:moveTo>
                <a:lnTo>
                  <a:pt x="5917656" y="0"/>
                </a:lnTo>
                <a:lnTo>
                  <a:pt x="5917656" y="1583067"/>
                </a:lnTo>
                <a:lnTo>
                  <a:pt x="0" y="15830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32342" y="2812633"/>
            <a:ext cx="5868917" cy="52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Beginner learners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1822" y="4378698"/>
            <a:ext cx="5549957" cy="50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1"/>
              </a:lnSpc>
              <a:spcBef>
                <a:spcPct val="0"/>
              </a:spcBef>
            </a:pPr>
            <a:r>
              <a:rPr lang="en-US" sz="355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Students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2377361" y="4629958"/>
            <a:ext cx="406712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2289119" y="3119517"/>
            <a:ext cx="415536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301259" y="4294413"/>
            <a:ext cx="904877" cy="904877"/>
          </a:xfrm>
          <a:custGeom>
            <a:avLst/>
            <a:gdLst/>
            <a:ahLst/>
            <a:cxnLst/>
            <a:rect r="r" b="b" t="t" l="l"/>
            <a:pathLst>
              <a:path h="904877" w="904877">
                <a:moveTo>
                  <a:pt x="0" y="0"/>
                </a:moveTo>
                <a:lnTo>
                  <a:pt x="904877" y="0"/>
                </a:lnTo>
                <a:lnTo>
                  <a:pt x="904877" y="904877"/>
                </a:lnTo>
                <a:lnTo>
                  <a:pt x="0" y="9048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289436" y="2613655"/>
            <a:ext cx="3086046" cy="43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6"/>
              </a:lnSpc>
              <a:spcBef>
                <a:spcPct val="0"/>
              </a:spcBef>
            </a:pPr>
            <a:r>
              <a:rPr lang="en-US" sz="30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OUR</a:t>
            </a:r>
            <a:r>
              <a:rPr lang="en-US" sz="30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FOCUS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5453" y="3042410"/>
            <a:ext cx="7224862" cy="57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41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Newc</a:t>
            </a:r>
            <a:r>
              <a:rPr lang="en-US" sz="41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omers to New Zealand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64354" y="3831903"/>
            <a:ext cx="7748985" cy="52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Unfamiliar signs &amp; road markings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2916" y="4604957"/>
            <a:ext cx="7791980" cy="103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Different give-way &amp; roundabout </a:t>
            </a:r>
          </a:p>
          <a:p>
            <a:pPr algn="l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logic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64354" y="5892378"/>
            <a:ext cx="8042755" cy="103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 new driving culture and keeping </a:t>
            </a:r>
          </a:p>
          <a:p>
            <a:pPr algn="l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left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9119" y="6140502"/>
            <a:ext cx="4155364" cy="52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37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Newcomers to NZ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14063" y="1720106"/>
            <a:ext cx="5511566" cy="44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sz="32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We started with three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4036" y="333283"/>
            <a:ext cx="10062037" cy="84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Who We are Designing For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54660" y="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0" y="0"/>
                </a:moveTo>
                <a:lnTo>
                  <a:pt x="14506701" y="0"/>
                </a:lnTo>
                <a:lnTo>
                  <a:pt x="14506701" y="10734959"/>
                </a:lnTo>
                <a:lnTo>
                  <a:pt x="0" y="10734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65687" y="2399457"/>
            <a:ext cx="13711900" cy="16671003"/>
          </a:xfrm>
          <a:custGeom>
            <a:avLst/>
            <a:gdLst/>
            <a:ahLst/>
            <a:cxnLst/>
            <a:rect r="r" b="b" t="t" l="l"/>
            <a:pathLst>
              <a:path h="16671003" w="13711900">
                <a:moveTo>
                  <a:pt x="0" y="0"/>
                </a:moveTo>
                <a:lnTo>
                  <a:pt x="13711901" y="0"/>
                </a:lnTo>
                <a:lnTo>
                  <a:pt x="13711901" y="16671004"/>
                </a:lnTo>
                <a:lnTo>
                  <a:pt x="0" y="16671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92181" y="5143500"/>
            <a:ext cx="1863979" cy="5367480"/>
          </a:xfrm>
          <a:custGeom>
            <a:avLst/>
            <a:gdLst/>
            <a:ahLst/>
            <a:cxnLst/>
            <a:rect r="r" b="b" t="t" l="l"/>
            <a:pathLst>
              <a:path h="5367480" w="1863979">
                <a:moveTo>
                  <a:pt x="0" y="0"/>
                </a:moveTo>
                <a:lnTo>
                  <a:pt x="1863979" y="0"/>
                </a:lnTo>
                <a:lnTo>
                  <a:pt x="1863979" y="5367480"/>
                </a:lnTo>
                <a:lnTo>
                  <a:pt x="0" y="5367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97063" y="502183"/>
            <a:ext cx="10822077" cy="84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The gap and our opportunity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48846" y="2793722"/>
            <a:ext cx="2998060" cy="57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41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What exists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2864" y="3400083"/>
            <a:ext cx="7780376" cy="218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940" indent="-377970" lvl="1">
              <a:lnSpc>
                <a:spcPts val="378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Drive</a:t>
            </a:r>
          </a:p>
          <a:p>
            <a:pPr algn="l">
              <a:lnSpc>
                <a:spcPts val="3241"/>
              </a:lnSpc>
            </a:pPr>
            <a:r>
              <a:rPr lang="en-US" sz="300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    </a:t>
            </a:r>
            <a:r>
              <a:rPr lang="en-US" sz="300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official NZ Road Code site</a:t>
            </a:r>
          </a:p>
          <a:p>
            <a:pPr algn="l">
              <a:lnSpc>
                <a:spcPts val="3241"/>
              </a:lnSpc>
            </a:pPr>
          </a:p>
          <a:p>
            <a:pPr algn="l" marL="755940" indent="-377970" lvl="1">
              <a:lnSpc>
                <a:spcPts val="378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DrivingTests.co.nz</a:t>
            </a:r>
          </a:p>
          <a:p>
            <a:pPr algn="l">
              <a:lnSpc>
                <a:spcPts val="3241"/>
              </a:lnSpc>
            </a:pPr>
            <a:r>
              <a:rPr lang="en-US" sz="300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    </a:t>
            </a:r>
            <a:r>
              <a:rPr lang="en-US" sz="300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practice quizzes &amp; mock theory tests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4015" y="5802408"/>
            <a:ext cx="6721230" cy="80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9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Good coverage of the rules but </a:t>
            </a:r>
            <a:r>
              <a:rPr lang="en-US" sz="29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built around reading &amp; multiple choice.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49860" y="-22398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14506701" y="0"/>
                </a:moveTo>
                <a:lnTo>
                  <a:pt x="0" y="0"/>
                </a:lnTo>
                <a:lnTo>
                  <a:pt x="0" y="10734960"/>
                </a:lnTo>
                <a:lnTo>
                  <a:pt x="14506701" y="10734960"/>
                </a:lnTo>
                <a:lnTo>
                  <a:pt x="1450670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015270"/>
            <a:ext cx="4267599" cy="2271730"/>
          </a:xfrm>
          <a:custGeom>
            <a:avLst/>
            <a:gdLst/>
            <a:ahLst/>
            <a:cxnLst/>
            <a:rect r="r" b="b" t="t" l="l"/>
            <a:pathLst>
              <a:path h="2271730" w="4267599">
                <a:moveTo>
                  <a:pt x="4267599" y="0"/>
                </a:moveTo>
                <a:lnTo>
                  <a:pt x="0" y="0"/>
                </a:lnTo>
                <a:lnTo>
                  <a:pt x="0" y="2271730"/>
                </a:lnTo>
                <a:lnTo>
                  <a:pt x="4267599" y="2271730"/>
                </a:lnTo>
                <a:lnTo>
                  <a:pt x="426759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616312" y="2407027"/>
            <a:ext cx="13818739" cy="16800899"/>
          </a:xfrm>
          <a:custGeom>
            <a:avLst/>
            <a:gdLst/>
            <a:ahLst/>
            <a:cxnLst/>
            <a:rect r="r" b="b" t="t" l="l"/>
            <a:pathLst>
              <a:path h="16800899" w="13818739">
                <a:moveTo>
                  <a:pt x="13818739" y="0"/>
                </a:moveTo>
                <a:lnTo>
                  <a:pt x="0" y="0"/>
                </a:lnTo>
                <a:lnTo>
                  <a:pt x="0" y="16800898"/>
                </a:lnTo>
                <a:lnTo>
                  <a:pt x="13818739" y="16800898"/>
                </a:lnTo>
                <a:lnTo>
                  <a:pt x="1381873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5079" y="4784590"/>
            <a:ext cx="2218976" cy="5726389"/>
          </a:xfrm>
          <a:custGeom>
            <a:avLst/>
            <a:gdLst/>
            <a:ahLst/>
            <a:cxnLst/>
            <a:rect r="r" b="b" t="t" l="l"/>
            <a:pathLst>
              <a:path h="5726389" w="2218976">
                <a:moveTo>
                  <a:pt x="0" y="0"/>
                </a:moveTo>
                <a:lnTo>
                  <a:pt x="2218976" y="0"/>
                </a:lnTo>
                <a:lnTo>
                  <a:pt x="2218976" y="5726390"/>
                </a:lnTo>
                <a:lnTo>
                  <a:pt x="0" y="5726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49271" y="2957362"/>
            <a:ext cx="2087563" cy="57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41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gap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43280" y="3853045"/>
            <a:ext cx="7559103" cy="191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They test if you can recall a rule </a:t>
            </a: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not whether you can apply it the moment </a:t>
            </a: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 roundabout or school zone appears.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43280" y="6068560"/>
            <a:ext cx="6994095" cy="80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96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Key drawback : R</a:t>
            </a:r>
            <a:r>
              <a:rPr lang="en-US" sz="296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eading + re-quizzing </a:t>
            </a:r>
          </a:p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96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gets repetitive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38306" y="420128"/>
            <a:ext cx="10769051" cy="84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The gap and our opportunity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994801" y="720160"/>
            <a:ext cx="3615144" cy="10219489"/>
          </a:xfrm>
          <a:custGeom>
            <a:avLst/>
            <a:gdLst/>
            <a:ahLst/>
            <a:cxnLst/>
            <a:rect r="r" b="b" t="t" l="l"/>
            <a:pathLst>
              <a:path h="10219489" w="3615144">
                <a:moveTo>
                  <a:pt x="3615144" y="0"/>
                </a:moveTo>
                <a:lnTo>
                  <a:pt x="0" y="0"/>
                </a:lnTo>
                <a:lnTo>
                  <a:pt x="0" y="10219489"/>
                </a:lnTo>
                <a:lnTo>
                  <a:pt x="3615144" y="10219489"/>
                </a:lnTo>
                <a:lnTo>
                  <a:pt x="36151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55589" y="1513187"/>
            <a:ext cx="11471088" cy="11631014"/>
          </a:xfrm>
          <a:custGeom>
            <a:avLst/>
            <a:gdLst/>
            <a:ahLst/>
            <a:cxnLst/>
            <a:rect r="r" b="b" t="t" l="l"/>
            <a:pathLst>
              <a:path h="11631014" w="11471088">
                <a:moveTo>
                  <a:pt x="0" y="0"/>
                </a:moveTo>
                <a:lnTo>
                  <a:pt x="11471087" y="0"/>
                </a:lnTo>
                <a:lnTo>
                  <a:pt x="11471087" y="11631014"/>
                </a:lnTo>
                <a:lnTo>
                  <a:pt x="0" y="116310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26886" y="2588002"/>
            <a:ext cx="4128492" cy="57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416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Our opportunity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71072" y="3366294"/>
            <a:ext cx="10840121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Turn the road code into playablescenarios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Signs, speed limits &amp; give-way as short missions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Make the safe choice in context, not on paper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Instant feedback, points &amp; progress, practice  you'll repeat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71072" y="331357"/>
            <a:ext cx="13862237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The gap and our opportunity</a:t>
            </a:r>
          </a:p>
          <a:p>
            <a:pPr algn="l">
              <a:lnSpc>
                <a:spcPts val="6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291290" y="1672301"/>
            <a:ext cx="1702160" cy="1736151"/>
          </a:xfrm>
          <a:custGeom>
            <a:avLst/>
            <a:gdLst/>
            <a:ahLst/>
            <a:cxnLst/>
            <a:rect r="r" b="b" t="t" l="l"/>
            <a:pathLst>
              <a:path h="1736151" w="1702160">
                <a:moveTo>
                  <a:pt x="0" y="0"/>
                </a:moveTo>
                <a:lnTo>
                  <a:pt x="1702160" y="0"/>
                </a:lnTo>
                <a:lnTo>
                  <a:pt x="1702160" y="1736151"/>
                </a:lnTo>
                <a:lnTo>
                  <a:pt x="0" y="17361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9331" y="-247908"/>
            <a:ext cx="16959315" cy="17195756"/>
          </a:xfrm>
          <a:custGeom>
            <a:avLst/>
            <a:gdLst/>
            <a:ahLst/>
            <a:cxnLst/>
            <a:rect r="r" b="b" t="t" l="l"/>
            <a:pathLst>
              <a:path h="17195756" w="16959315">
                <a:moveTo>
                  <a:pt x="0" y="0"/>
                </a:moveTo>
                <a:lnTo>
                  <a:pt x="16959314" y="0"/>
                </a:lnTo>
                <a:lnTo>
                  <a:pt x="16959314" y="17195756"/>
                </a:lnTo>
                <a:lnTo>
                  <a:pt x="0" y="171957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68111" y="2178437"/>
            <a:ext cx="2775889" cy="2513722"/>
          </a:xfrm>
          <a:custGeom>
            <a:avLst/>
            <a:gdLst/>
            <a:ahLst/>
            <a:cxnLst/>
            <a:rect r="r" b="b" t="t" l="l"/>
            <a:pathLst>
              <a:path h="2513722" w="2775889">
                <a:moveTo>
                  <a:pt x="0" y="0"/>
                </a:moveTo>
                <a:lnTo>
                  <a:pt x="2775889" y="0"/>
                </a:lnTo>
                <a:lnTo>
                  <a:pt x="2775889" y="2513722"/>
                </a:lnTo>
                <a:lnTo>
                  <a:pt x="0" y="25137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10023" y="1035381"/>
            <a:ext cx="80979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User Persona:Sarath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66212" y="2637031"/>
            <a:ext cx="6028233" cy="529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Demographic Info: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30 years old 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Software tester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Open work visa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Auckland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Personality: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Methodical and detail-oriented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Comfortable with technology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Prefers to learn by doing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Cautious in unfamiliar situations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Devices: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Mobile (Android) • Laptop</a:t>
            </a:r>
          </a:p>
          <a:p>
            <a:pPr algn="l">
              <a:lnSpc>
                <a:spcPts val="284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81675" y="2637031"/>
            <a:ext cx="6619399" cy="549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Goals: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Quickly understand NZ-specific road rules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Drive confidently to and from work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Avoid fines or mistakes during visa period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</a:p>
          <a:p>
            <a:pPr algn="l">
              <a:lnSpc>
                <a:spcPts val="2735"/>
              </a:lnSpc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Pain Points: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NZ roundabout give-way rules differ from India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Unsure which rules carry over from home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No time for formal lessons (busy work schedule)</a:t>
            </a:r>
          </a:p>
          <a:p>
            <a:pPr algn="l" marL="546832" indent="-273416" lvl="1">
              <a:lnSpc>
                <a:spcPts val="2735"/>
              </a:lnSpc>
              <a:spcBef>
                <a:spcPct val="0"/>
              </a:spcBef>
              <a:buFont typeface="Arial"/>
              <a:buChar char="•"/>
            </a:pPr>
            <a:r>
              <a:rPr lang="en-US" sz="25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Official NZTA resources feel dense and complex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9331" y="-247908"/>
            <a:ext cx="16959315" cy="17195756"/>
          </a:xfrm>
          <a:custGeom>
            <a:avLst/>
            <a:gdLst/>
            <a:ahLst/>
            <a:cxnLst/>
            <a:rect r="r" b="b" t="t" l="l"/>
            <a:pathLst>
              <a:path h="17195756" w="16959315">
                <a:moveTo>
                  <a:pt x="0" y="0"/>
                </a:moveTo>
                <a:lnTo>
                  <a:pt x="16959314" y="0"/>
                </a:lnTo>
                <a:lnTo>
                  <a:pt x="16959314" y="17195756"/>
                </a:lnTo>
                <a:lnTo>
                  <a:pt x="0" y="171957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87571" y="1137224"/>
            <a:ext cx="674283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User Persona:Sofia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6212" y="2637031"/>
            <a:ext cx="6390560" cy="670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Demographic Info: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26</a:t>
            </a: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years old 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Graphic Designer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Working Holiday Visa 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Wellington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Personality: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Adv</a:t>
            </a: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enturous but safety-conscious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Visual learner - prefers diagrams over text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Easily overwhelmed by written rules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Motivated by real-world application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Devices:</a:t>
            </a:r>
          </a:p>
          <a:p>
            <a:pPr algn="l" marL="568422" indent="-284211" lvl="1">
              <a:lnSpc>
                <a:spcPts val="2843"/>
              </a:lnSpc>
              <a:buFont typeface="Arial"/>
              <a:buChar char="•"/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Mobile (iPhone) •Tablet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904402" y="2637031"/>
            <a:ext cx="6848237" cy="600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Goals: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Safely rent a car and explore NZ on road trips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Build confidence driving on the left side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Understand NZ road signs and speed limits quickly</a:t>
            </a:r>
          </a:p>
          <a:p>
            <a:pPr algn="l">
              <a:lnSpc>
                <a:spcPts val="2843"/>
              </a:lnSpc>
              <a:spcBef>
                <a:spcPct val="0"/>
              </a:spcBef>
            </a:pPr>
          </a:p>
          <a:p>
            <a:pPr algn="l">
              <a:lnSpc>
                <a:spcPts val="2843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Pain Points: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US drives on the right — switching sides is stressful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Can't find quick visual summaries of NZrules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No local friends or family to guide her</a:t>
            </a:r>
          </a:p>
          <a:p>
            <a:pPr algn="l" marL="568422" indent="-284211" lvl="1">
              <a:lnSpc>
                <a:spcPts val="2843"/>
              </a:lnSpc>
              <a:spcBef>
                <a:spcPct val="0"/>
              </a:spcBef>
              <a:buFont typeface="Arial"/>
              <a:buChar char="•"/>
            </a:pPr>
            <a:r>
              <a:rPr lang="en-US" sz="2632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Worried about making an illegal move on her visa</a:t>
            </a:r>
          </a:p>
          <a:p>
            <a:pPr algn="l">
              <a:lnSpc>
                <a:spcPts val="2843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555826" y="2208693"/>
            <a:ext cx="2816504" cy="2550501"/>
          </a:xfrm>
          <a:custGeom>
            <a:avLst/>
            <a:gdLst/>
            <a:ahLst/>
            <a:cxnLst/>
            <a:rect r="r" b="b" t="t" l="l"/>
            <a:pathLst>
              <a:path h="2550501" w="2816504">
                <a:moveTo>
                  <a:pt x="0" y="0"/>
                </a:moveTo>
                <a:lnTo>
                  <a:pt x="2816504" y="0"/>
                </a:lnTo>
                <a:lnTo>
                  <a:pt x="2816504" y="2550501"/>
                </a:lnTo>
                <a:lnTo>
                  <a:pt x="0" y="25505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8856" y="-247908"/>
            <a:ext cx="16959315" cy="17195756"/>
          </a:xfrm>
          <a:custGeom>
            <a:avLst/>
            <a:gdLst/>
            <a:ahLst/>
            <a:cxnLst/>
            <a:rect r="r" b="b" t="t" l="l"/>
            <a:pathLst>
              <a:path h="17195756" w="16959315">
                <a:moveTo>
                  <a:pt x="0" y="0"/>
                </a:moveTo>
                <a:lnTo>
                  <a:pt x="16959314" y="0"/>
                </a:lnTo>
                <a:lnTo>
                  <a:pt x="16959314" y="17195756"/>
                </a:lnTo>
                <a:lnTo>
                  <a:pt x="0" y="171957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55589" y="16206"/>
            <a:ext cx="2953174" cy="2126285"/>
          </a:xfrm>
          <a:custGeom>
            <a:avLst/>
            <a:gdLst/>
            <a:ahLst/>
            <a:cxnLst/>
            <a:rect r="r" b="b" t="t" l="l"/>
            <a:pathLst>
              <a:path h="2126285" w="2953174">
                <a:moveTo>
                  <a:pt x="0" y="0"/>
                </a:moveTo>
                <a:lnTo>
                  <a:pt x="2953174" y="0"/>
                </a:lnTo>
                <a:lnTo>
                  <a:pt x="2953174" y="2126285"/>
                </a:lnTo>
                <a:lnTo>
                  <a:pt x="0" y="21262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66212" y="714117"/>
            <a:ext cx="3884497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1F3F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User Feedback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8535" y="2355958"/>
            <a:ext cx="7250453" cy="645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Sarath • 30 • India • Open Work Visa Driven in NZ: Yes — on foreign licence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195"/>
              </a:lnSpc>
            </a:pPr>
            <a:r>
              <a:rPr lang="en-US" sz="20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"Official resources read like textbooks. This gave me a risk-free environment to practice the logic of the road."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519"/>
              </a:lnSpc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KEY FINDINGS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Roundabouts confirmed as #1 fear - validated persona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School zone + T-intersection rules clicked through gameplay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Would use in first week - before getting behind the wheel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HUD density overwhelming for detail-oriented users initially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equested: mult</a:t>
            </a: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i-lane roundabout mission module</a:t>
            </a:r>
          </a:p>
          <a:p>
            <a:pPr algn="l">
              <a:lnSpc>
                <a:spcPts val="284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12601" y="2355958"/>
            <a:ext cx="7646699" cy="637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6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Sofia· 26 ·USA · Working Holiday Visa</a:t>
            </a:r>
          </a:p>
          <a:p>
            <a:pPr algn="l">
              <a:lnSpc>
                <a:spcPts val="2843"/>
              </a:lnSpc>
            </a:pPr>
            <a:r>
              <a:rPr lang="en-US" sz="2632" i="tru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Driven in NZ: Not yet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195"/>
              </a:lnSpc>
            </a:pPr>
            <a:r>
              <a:rPr lang="en-US" sz="20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"Everything is reversed here. This game let my brain practice looking at lanes from the left side before renting a car."</a:t>
            </a:r>
          </a:p>
          <a:p>
            <a:pPr algn="l">
              <a:lnSpc>
                <a:spcPts val="2195"/>
              </a:lnSpc>
            </a:pPr>
          </a:p>
          <a:p>
            <a:pPr algn="l">
              <a:lnSpc>
                <a:spcPts val="2519"/>
              </a:lnSpc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KEY FINDINGS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Lef</a:t>
            </a: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t-side driving muscle memory addressed through gameplay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Would use BEFORE arriving in NZ — travel anxiety use case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Validated: visual learner, overwhelmed by text-heavy resources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Keyboard-only controls are a barrier — uses phone/tablet only</a:t>
            </a:r>
          </a:p>
          <a:p>
            <a:pPr algn="l" marL="503653" indent="-251827" lvl="1">
              <a:lnSpc>
                <a:spcPts val="3009"/>
              </a:lnSpc>
              <a:buAutoNum type="arabicPeriod" startAt="1"/>
            </a:pPr>
            <a:r>
              <a:rPr lang="en-US" sz="233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Requested: mobile/touch support + 'Switch Sides' visual guide</a:t>
            </a:r>
          </a:p>
          <a:p>
            <a:pPr algn="l">
              <a:lnSpc>
                <a:spcPts val="28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848693" y="1059236"/>
            <a:ext cx="95278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nterview findings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9331" y="234086"/>
            <a:ext cx="16959315" cy="17195756"/>
          </a:xfrm>
          <a:custGeom>
            <a:avLst/>
            <a:gdLst/>
            <a:ahLst/>
            <a:cxnLst/>
            <a:rect r="r" b="b" t="t" l="l"/>
            <a:pathLst>
              <a:path h="17195756" w="16959315">
                <a:moveTo>
                  <a:pt x="0" y="0"/>
                </a:moveTo>
                <a:lnTo>
                  <a:pt x="16959314" y="0"/>
                </a:lnTo>
                <a:lnTo>
                  <a:pt x="16959314" y="17195757"/>
                </a:lnTo>
                <a:lnTo>
                  <a:pt x="0" y="171957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55589" y="330995"/>
            <a:ext cx="2953174" cy="2126285"/>
          </a:xfrm>
          <a:custGeom>
            <a:avLst/>
            <a:gdLst/>
            <a:ahLst/>
            <a:cxnLst/>
            <a:rect r="r" b="b" t="t" l="l"/>
            <a:pathLst>
              <a:path h="2126285" w="2953174">
                <a:moveTo>
                  <a:pt x="0" y="0"/>
                </a:moveTo>
                <a:lnTo>
                  <a:pt x="2953174" y="0"/>
                </a:lnTo>
                <a:lnTo>
                  <a:pt x="2953174" y="2126285"/>
                </a:lnTo>
                <a:lnTo>
                  <a:pt x="0" y="21262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672427" y="2624614"/>
          <a:ext cx="7315200" cy="7082341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775698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SARATH  🇮🇳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SARATH  🇮🇳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6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Before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After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8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Pain Point - Roundabouts as primary fear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Confirmed ✓ — T-intersection give-way also significant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Device - Laptop as primary device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782"/>
                        </a:lnSpc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Confirmed ✓ — HUD needs simplified onboarding mode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6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Learning Style - Prefers to learn by doing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Strongly confirmed ✓ — interactive beats reading rules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62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When to use - Assumed: before/after arriving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78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Specific: first week in Auckland, before first solo drive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2489928" y="844073"/>
            <a:ext cx="3884497" cy="178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1F3F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Improved Personas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987627" y="2624614"/>
          <a:ext cx="7315200" cy="7087341"/>
        </p:xfrm>
        <a:graphic>
          <a:graphicData uri="http://schemas.openxmlformats.org/drawingml/2006/table">
            <a:tbl>
              <a:tblPr/>
              <a:tblGrid>
                <a:gridCol w="3753449"/>
                <a:gridCol w="3561751"/>
              </a:tblGrid>
              <a:tr h="778342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SOFIA 🇺🇸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SOFIA 🇺🇸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6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Before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After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12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Primary Fear - Driving on wrong side — general anxiety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Specifically muscle memory in sudden panic situations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6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Device - Mobile/tablet user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Keyboard-only c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onfirmed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cr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cal barr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ie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—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obi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ow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m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ust-hav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6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Content Need - Visual summaries of NZ rules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Confirmed ✓ — plus 'Switch Sides' guide for mirrors/blind spots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91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82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When to use - First week in NZ</a:t>
                      </a:r>
                      <a:endParaRPr lang="en-US" sz="1100"/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  <a:p>
                      <a:pPr algn="ctr">
                        <a:lnSpc>
                          <a:spcPts val="1782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78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ef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arriv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— p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lan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ning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 t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ips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arl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han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sume</a:t>
                      </a: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1782"/>
                        </a:lnSpc>
                        <a:spcBef>
                          <a:spcPct val="0"/>
                        </a:spcBef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5908763" y="1651108"/>
            <a:ext cx="10996197" cy="62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  <a:spcBef>
                <a:spcPct val="0"/>
              </a:spcBef>
            </a:pPr>
            <a:r>
              <a:rPr lang="en-US" sz="3597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How </a:t>
            </a:r>
            <a:r>
              <a:rPr lang="en-US" sz="3597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our personas evolved after real user testing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49860" y="-22398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14506701" y="0"/>
                </a:moveTo>
                <a:lnTo>
                  <a:pt x="0" y="0"/>
                </a:lnTo>
                <a:lnTo>
                  <a:pt x="0" y="10734960"/>
                </a:lnTo>
                <a:lnTo>
                  <a:pt x="14506701" y="10734960"/>
                </a:lnTo>
                <a:lnTo>
                  <a:pt x="1450670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015270"/>
            <a:ext cx="4267599" cy="2271730"/>
          </a:xfrm>
          <a:custGeom>
            <a:avLst/>
            <a:gdLst/>
            <a:ahLst/>
            <a:cxnLst/>
            <a:rect r="r" b="b" t="t" l="l"/>
            <a:pathLst>
              <a:path h="2271730" w="4267599">
                <a:moveTo>
                  <a:pt x="4267599" y="0"/>
                </a:moveTo>
                <a:lnTo>
                  <a:pt x="0" y="0"/>
                </a:lnTo>
                <a:lnTo>
                  <a:pt x="0" y="2271730"/>
                </a:lnTo>
                <a:lnTo>
                  <a:pt x="4267599" y="2271730"/>
                </a:lnTo>
                <a:lnTo>
                  <a:pt x="426759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5392667" y="3350923"/>
            <a:ext cx="13042384" cy="15857002"/>
          </a:xfrm>
          <a:custGeom>
            <a:avLst/>
            <a:gdLst/>
            <a:ahLst/>
            <a:cxnLst/>
            <a:rect r="r" b="b" t="t" l="l"/>
            <a:pathLst>
              <a:path h="15857002" w="13042384">
                <a:moveTo>
                  <a:pt x="13042384" y="0"/>
                </a:moveTo>
                <a:lnTo>
                  <a:pt x="0" y="0"/>
                </a:lnTo>
                <a:lnTo>
                  <a:pt x="0" y="15857002"/>
                </a:lnTo>
                <a:lnTo>
                  <a:pt x="13042384" y="15857002"/>
                </a:lnTo>
                <a:lnTo>
                  <a:pt x="130423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71430" y="4151628"/>
            <a:ext cx="8041763" cy="248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178" indent="-367089" lvl="1">
              <a:lnSpc>
                <a:spcPts val="391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Road safety mini-game</a:t>
            </a:r>
          </a:p>
          <a:p>
            <a:pPr algn="l" marL="734178" indent="-367089" lvl="1">
              <a:lnSpc>
                <a:spcPts val="391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Simple scenarios</a:t>
            </a:r>
          </a:p>
          <a:p>
            <a:pPr algn="l" marL="734178" indent="-367089" lvl="1">
              <a:lnSpc>
                <a:spcPts val="391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Instant feedback</a:t>
            </a:r>
          </a:p>
          <a:p>
            <a:pPr algn="l" marL="734178" indent="-367089" lvl="1">
              <a:lnSpc>
                <a:spcPts val="391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Score/progress system</a:t>
            </a:r>
          </a:p>
          <a:p>
            <a:pPr algn="l" marL="734178" indent="-367089" lvl="1">
              <a:lnSpc>
                <a:spcPts val="391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Prototype comes from Claude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55079" y="4784590"/>
            <a:ext cx="2218976" cy="5726389"/>
          </a:xfrm>
          <a:custGeom>
            <a:avLst/>
            <a:gdLst/>
            <a:ahLst/>
            <a:cxnLst/>
            <a:rect r="r" b="b" t="t" l="l"/>
            <a:pathLst>
              <a:path h="5726389" w="2218976">
                <a:moveTo>
                  <a:pt x="0" y="0"/>
                </a:moveTo>
                <a:lnTo>
                  <a:pt x="2218976" y="0"/>
                </a:lnTo>
                <a:lnTo>
                  <a:pt x="2218976" y="5726390"/>
                </a:lnTo>
                <a:lnTo>
                  <a:pt x="0" y="5726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51016" y="708660"/>
            <a:ext cx="10385969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DESIGN &amp; PROTOTYPE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2878" y="6221883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0" y="0"/>
                </a:moveTo>
                <a:lnTo>
                  <a:pt x="18450142" y="0"/>
                </a:lnTo>
                <a:lnTo>
                  <a:pt x="18450142" y="5332359"/>
                </a:lnTo>
                <a:lnTo>
                  <a:pt x="0" y="5332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2373" y="8431530"/>
            <a:ext cx="3485627" cy="1855470"/>
          </a:xfrm>
          <a:custGeom>
            <a:avLst/>
            <a:gdLst/>
            <a:ahLst/>
            <a:cxnLst/>
            <a:rect r="r" b="b" t="t" l="l"/>
            <a:pathLst>
              <a:path h="1855470" w="3485627">
                <a:moveTo>
                  <a:pt x="0" y="0"/>
                </a:moveTo>
                <a:lnTo>
                  <a:pt x="3485627" y="0"/>
                </a:lnTo>
                <a:lnTo>
                  <a:pt x="3485627" y="1855470"/>
                </a:lnTo>
                <a:lnTo>
                  <a:pt x="0" y="1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24393" y="6596923"/>
            <a:ext cx="8065331" cy="4293340"/>
          </a:xfrm>
          <a:custGeom>
            <a:avLst/>
            <a:gdLst/>
            <a:ahLst/>
            <a:cxnLst/>
            <a:rect r="r" b="b" t="t" l="l"/>
            <a:pathLst>
              <a:path h="4293340" w="8065331">
                <a:moveTo>
                  <a:pt x="8065331" y="0"/>
                </a:moveTo>
                <a:lnTo>
                  <a:pt x="0" y="0"/>
                </a:lnTo>
                <a:lnTo>
                  <a:pt x="0" y="4293340"/>
                </a:lnTo>
                <a:lnTo>
                  <a:pt x="8065331" y="4293340"/>
                </a:lnTo>
                <a:lnTo>
                  <a:pt x="8065331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79344" y="945341"/>
            <a:ext cx="3518016" cy="9944922"/>
          </a:xfrm>
          <a:custGeom>
            <a:avLst/>
            <a:gdLst/>
            <a:ahLst/>
            <a:cxnLst/>
            <a:rect r="r" b="b" t="t" l="l"/>
            <a:pathLst>
              <a:path h="9944922" w="3518016">
                <a:moveTo>
                  <a:pt x="0" y="0"/>
                </a:moveTo>
                <a:lnTo>
                  <a:pt x="3518016" y="0"/>
                </a:lnTo>
                <a:lnTo>
                  <a:pt x="3518016" y="9944922"/>
                </a:lnTo>
                <a:lnTo>
                  <a:pt x="0" y="9944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92322" y="-68941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00539" y="1179981"/>
            <a:ext cx="13844648" cy="14037666"/>
          </a:xfrm>
          <a:custGeom>
            <a:avLst/>
            <a:gdLst/>
            <a:ahLst/>
            <a:cxnLst/>
            <a:rect r="r" b="b" t="t" l="l"/>
            <a:pathLst>
              <a:path h="14037666" w="13844648">
                <a:moveTo>
                  <a:pt x="0" y="0"/>
                </a:moveTo>
                <a:lnTo>
                  <a:pt x="13844648" y="0"/>
                </a:lnTo>
                <a:lnTo>
                  <a:pt x="13844648" y="14037666"/>
                </a:lnTo>
                <a:lnTo>
                  <a:pt x="0" y="140376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56442" y="1356271"/>
            <a:ext cx="2692325" cy="2382707"/>
          </a:xfrm>
          <a:custGeom>
            <a:avLst/>
            <a:gdLst/>
            <a:ahLst/>
            <a:cxnLst/>
            <a:rect r="r" b="b" t="t" l="l"/>
            <a:pathLst>
              <a:path h="2382707" w="2692325">
                <a:moveTo>
                  <a:pt x="0" y="0"/>
                </a:moveTo>
                <a:lnTo>
                  <a:pt x="2692325" y="0"/>
                </a:lnTo>
                <a:lnTo>
                  <a:pt x="2692325" y="2382708"/>
                </a:lnTo>
                <a:lnTo>
                  <a:pt x="0" y="23827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32716" y="3983582"/>
            <a:ext cx="12580294" cy="3868440"/>
          </a:xfrm>
          <a:custGeom>
            <a:avLst/>
            <a:gdLst/>
            <a:ahLst/>
            <a:cxnLst/>
            <a:rect r="r" b="b" t="t" l="l"/>
            <a:pathLst>
              <a:path h="3868440" w="12580294">
                <a:moveTo>
                  <a:pt x="0" y="0"/>
                </a:moveTo>
                <a:lnTo>
                  <a:pt x="12580294" y="0"/>
                </a:lnTo>
                <a:lnTo>
                  <a:pt x="12580294" y="3868440"/>
                </a:lnTo>
                <a:lnTo>
                  <a:pt x="0" y="38684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3888" y="2442850"/>
            <a:ext cx="372263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PROTOTYPE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79331" y="6165785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18450141" y="0"/>
                </a:moveTo>
                <a:lnTo>
                  <a:pt x="0" y="0"/>
                </a:lnTo>
                <a:lnTo>
                  <a:pt x="0" y="5332359"/>
                </a:lnTo>
                <a:lnTo>
                  <a:pt x="18450141" y="5332359"/>
                </a:lnTo>
                <a:lnTo>
                  <a:pt x="184501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46590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96928" y="7863603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994801" y="720160"/>
            <a:ext cx="3615144" cy="10219489"/>
          </a:xfrm>
          <a:custGeom>
            <a:avLst/>
            <a:gdLst/>
            <a:ahLst/>
            <a:cxnLst/>
            <a:rect r="r" b="b" t="t" l="l"/>
            <a:pathLst>
              <a:path h="10219489" w="3615144">
                <a:moveTo>
                  <a:pt x="3615144" y="0"/>
                </a:moveTo>
                <a:lnTo>
                  <a:pt x="0" y="0"/>
                </a:lnTo>
                <a:lnTo>
                  <a:pt x="0" y="10219489"/>
                </a:lnTo>
                <a:lnTo>
                  <a:pt x="3615144" y="10219489"/>
                </a:lnTo>
                <a:lnTo>
                  <a:pt x="36151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03109" y="1985674"/>
            <a:ext cx="11493860" cy="11654104"/>
          </a:xfrm>
          <a:custGeom>
            <a:avLst/>
            <a:gdLst/>
            <a:ahLst/>
            <a:cxnLst/>
            <a:rect r="r" b="b" t="t" l="l"/>
            <a:pathLst>
              <a:path h="11654104" w="11493860">
                <a:moveTo>
                  <a:pt x="0" y="0"/>
                </a:moveTo>
                <a:lnTo>
                  <a:pt x="11493860" y="0"/>
                </a:lnTo>
                <a:lnTo>
                  <a:pt x="11493860" y="11654105"/>
                </a:lnTo>
                <a:lnTo>
                  <a:pt x="0" y="11654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08052" y="3429046"/>
            <a:ext cx="1990114" cy="2029855"/>
          </a:xfrm>
          <a:custGeom>
            <a:avLst/>
            <a:gdLst/>
            <a:ahLst/>
            <a:cxnLst/>
            <a:rect r="r" b="b" t="t" l="l"/>
            <a:pathLst>
              <a:path h="2029855" w="1990114">
                <a:moveTo>
                  <a:pt x="0" y="0"/>
                </a:moveTo>
                <a:lnTo>
                  <a:pt x="1990114" y="0"/>
                </a:lnTo>
                <a:lnTo>
                  <a:pt x="1990114" y="2029855"/>
                </a:lnTo>
                <a:lnTo>
                  <a:pt x="0" y="20298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85097" y="5214307"/>
            <a:ext cx="10917276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Behaviourism: feedback, rewards, penalties, game-base design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Constructivism: learners build rule understanding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Experientialism: learning through driving practice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Cognitivism: clear cues reduce mental load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339328" y="3093885"/>
            <a:ext cx="7221422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EDUC</a:t>
            </a: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ATIONAL THEORIES USED</a:t>
            </a:r>
          </a:p>
          <a:p>
            <a:pPr algn="ctr">
              <a:lnSpc>
                <a:spcPts val="4500"/>
              </a:lnSpc>
            </a:pPr>
            <a:r>
              <a:rPr lang="en-US" sz="5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THEORY FRAMEWORK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57792" y="1859652"/>
            <a:ext cx="5750303" cy="6159647"/>
          </a:xfrm>
          <a:custGeom>
            <a:avLst/>
            <a:gdLst/>
            <a:ahLst/>
            <a:cxnLst/>
            <a:rect r="r" b="b" t="t" l="l"/>
            <a:pathLst>
              <a:path h="6159647" w="5750303">
                <a:moveTo>
                  <a:pt x="0" y="0"/>
                </a:moveTo>
                <a:lnTo>
                  <a:pt x="5750303" y="0"/>
                </a:lnTo>
                <a:lnTo>
                  <a:pt x="5750303" y="6159647"/>
                </a:lnTo>
                <a:lnTo>
                  <a:pt x="0" y="6159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063677"/>
            <a:ext cx="6971827" cy="5499688"/>
          </a:xfrm>
          <a:custGeom>
            <a:avLst/>
            <a:gdLst/>
            <a:ahLst/>
            <a:cxnLst/>
            <a:rect r="r" b="b" t="t" l="l"/>
            <a:pathLst>
              <a:path h="5499688" w="6971827">
                <a:moveTo>
                  <a:pt x="0" y="0"/>
                </a:moveTo>
                <a:lnTo>
                  <a:pt x="6971827" y="0"/>
                </a:lnTo>
                <a:lnTo>
                  <a:pt x="6971827" y="5499688"/>
                </a:lnTo>
                <a:lnTo>
                  <a:pt x="0" y="549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204" y="404685"/>
            <a:ext cx="15965367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WenQuanYi"/>
                <a:ea typeface="WenQuanYi"/>
                <a:cs typeface="WenQuanYi"/>
                <a:sym typeface="WenQuanYi"/>
              </a:rPr>
              <a:t>Game-based learning (Behaviourism)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576" y="7681285"/>
            <a:ext cx="17003065" cy="22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Objectives + Real‑Time Feedback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Clear objectives define correct behaviours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→ Reinforces safe driving habits through operant conditioning.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→ H</a:t>
            </a: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elps learners internalise NZ road rules through repeated, reinforced practice.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062" y="3717304"/>
            <a:ext cx="8078205" cy="2590911"/>
          </a:xfrm>
          <a:custGeom>
            <a:avLst/>
            <a:gdLst/>
            <a:ahLst/>
            <a:cxnLst/>
            <a:rect r="r" b="b" t="t" l="l"/>
            <a:pathLst>
              <a:path h="2590911" w="8078205">
                <a:moveTo>
                  <a:pt x="0" y="0"/>
                </a:moveTo>
                <a:lnTo>
                  <a:pt x="8078204" y="0"/>
                </a:lnTo>
                <a:lnTo>
                  <a:pt x="8078204" y="2590911"/>
                </a:lnTo>
                <a:lnTo>
                  <a:pt x="0" y="2590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44" t="-23623" r="-711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2062" y="6639580"/>
            <a:ext cx="8048746" cy="3306849"/>
          </a:xfrm>
          <a:custGeom>
            <a:avLst/>
            <a:gdLst/>
            <a:ahLst/>
            <a:cxnLst/>
            <a:rect r="r" b="b" t="t" l="l"/>
            <a:pathLst>
              <a:path h="3306849" w="8048746">
                <a:moveTo>
                  <a:pt x="0" y="0"/>
                </a:moveTo>
                <a:lnTo>
                  <a:pt x="8048745" y="0"/>
                </a:lnTo>
                <a:lnTo>
                  <a:pt x="8048745" y="3306849"/>
                </a:lnTo>
                <a:lnTo>
                  <a:pt x="0" y="3306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062" y="2090762"/>
            <a:ext cx="7016294" cy="1250280"/>
          </a:xfrm>
          <a:custGeom>
            <a:avLst/>
            <a:gdLst/>
            <a:ahLst/>
            <a:cxnLst/>
            <a:rect r="r" b="b" t="t" l="l"/>
            <a:pathLst>
              <a:path h="1250280" w="7016294">
                <a:moveTo>
                  <a:pt x="0" y="0"/>
                </a:moveTo>
                <a:lnTo>
                  <a:pt x="7016294" y="0"/>
                </a:lnTo>
                <a:lnTo>
                  <a:pt x="7016294" y="1250280"/>
                </a:lnTo>
                <a:lnTo>
                  <a:pt x="0" y="1250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072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24291" y="2043137"/>
            <a:ext cx="8939034" cy="558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Concrete experience: driving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Reflective observation: feedback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Abstract conceptualisation: rules inferred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Active experimentation: retrying levels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</a:t>
            </a: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→ Enables “learning by doing,” which is essential for procedural skills like driving.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 → Helps learners transfer knowledge to real-world driving situations.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8204" y="404685"/>
            <a:ext cx="17859796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WenQuanYi"/>
                <a:ea typeface="WenQuanYi"/>
                <a:cs typeface="WenQuanYi"/>
                <a:sym typeface="WenQuanYi"/>
              </a:rPr>
              <a:t>Kolb's Experiential Learning Cycle (Experientialism)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9457" y="1712647"/>
            <a:ext cx="6393283" cy="1610906"/>
          </a:xfrm>
          <a:custGeom>
            <a:avLst/>
            <a:gdLst/>
            <a:ahLst/>
            <a:cxnLst/>
            <a:rect r="r" b="b" t="t" l="l"/>
            <a:pathLst>
              <a:path h="1610906" w="6393283">
                <a:moveTo>
                  <a:pt x="0" y="0"/>
                </a:moveTo>
                <a:lnTo>
                  <a:pt x="6393283" y="0"/>
                </a:lnTo>
                <a:lnTo>
                  <a:pt x="6393283" y="1610906"/>
                </a:lnTo>
                <a:lnTo>
                  <a:pt x="0" y="1610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5182" y="1712647"/>
            <a:ext cx="9752797" cy="5668813"/>
          </a:xfrm>
          <a:custGeom>
            <a:avLst/>
            <a:gdLst/>
            <a:ahLst/>
            <a:cxnLst/>
            <a:rect r="r" b="b" t="t" l="l"/>
            <a:pathLst>
              <a:path h="5668813" w="9752797">
                <a:moveTo>
                  <a:pt x="0" y="0"/>
                </a:moveTo>
                <a:lnTo>
                  <a:pt x="9752797" y="0"/>
                </a:lnTo>
                <a:lnTo>
                  <a:pt x="9752797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5182" y="238125"/>
            <a:ext cx="147453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Cognitive load (Cognitivism)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6276" y="4132476"/>
            <a:ext cx="7731724" cy="512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22" indent="-318011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Reduces cognitive load</a:t>
            </a:r>
          </a:p>
          <a:p>
            <a:pPr algn="l" marL="636022" indent="-318011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Chunking via Levels</a:t>
            </a:r>
          </a:p>
          <a:p>
            <a:pPr algn="l" marL="636022" indent="-318011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Levels introduce rules gradually</a:t>
            </a:r>
          </a:p>
          <a:p>
            <a:pPr algn="l" marL="636022" indent="-318011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HUD simplification</a:t>
            </a:r>
          </a:p>
          <a:p>
            <a:pPr algn="l" marL="636022" indent="-318011" lvl="1">
              <a:lnSpc>
                <a:spcPts val="4124"/>
              </a:lnSpc>
              <a:buFont typeface="Arial"/>
              <a:buChar char="•"/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Supports mental model formation</a:t>
            </a:r>
          </a:p>
          <a:p>
            <a:pPr algn="l">
              <a:lnSpc>
                <a:spcPts val="4124"/>
              </a:lnSpc>
            </a:pPr>
          </a:p>
          <a:p>
            <a:pPr algn="l">
              <a:lnSpc>
                <a:spcPts val="4124"/>
              </a:lnSpc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→ Reduces working memory load.</a:t>
            </a:r>
          </a:p>
          <a:p>
            <a:pPr algn="l">
              <a:lnSpc>
                <a:spcPts val="4124"/>
              </a:lnSpc>
            </a:pP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→ </a:t>
            </a:r>
            <a:r>
              <a:rPr lang="en-US" sz="2945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Helps learners focus on one concept at a time.</a:t>
            </a:r>
          </a:p>
          <a:p>
            <a:pPr algn="l">
              <a:lnSpc>
                <a:spcPts val="4124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8597" y="1751239"/>
            <a:ext cx="9887807" cy="5351776"/>
          </a:xfrm>
          <a:custGeom>
            <a:avLst/>
            <a:gdLst/>
            <a:ahLst/>
            <a:cxnLst/>
            <a:rect r="r" b="b" t="t" l="l"/>
            <a:pathLst>
              <a:path h="5351776" w="9887807">
                <a:moveTo>
                  <a:pt x="0" y="0"/>
                </a:moveTo>
                <a:lnTo>
                  <a:pt x="9887807" y="0"/>
                </a:lnTo>
                <a:lnTo>
                  <a:pt x="9887807" y="5351775"/>
                </a:lnTo>
                <a:lnTo>
                  <a:pt x="0" y="535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8163" y="1764665"/>
            <a:ext cx="7709837" cy="67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Learners integrate prior driving experience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Levels progress from simple to complex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Each level introduces only a small number of new rules.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→ Helps learners operate within their Zone of Proximal Development (ZPD).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 → Enables step‑by‑step mastery of NZ road rules.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204" y="404685"/>
            <a:ext cx="15965367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WenQuanYi"/>
                <a:ea typeface="WenQuanYi"/>
                <a:cs typeface="WenQuanYi"/>
                <a:sym typeface="WenQuanYi"/>
              </a:rPr>
              <a:t>Scaffolding (Constructivism)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4289" y="3335508"/>
            <a:ext cx="3856354" cy="1115592"/>
            <a:chOff x="0" y="0"/>
            <a:chExt cx="1015665" cy="2938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5665" cy="293818"/>
            </a:xfrm>
            <a:custGeom>
              <a:avLst/>
              <a:gdLst/>
              <a:ahLst/>
              <a:cxnLst/>
              <a:rect r="r" b="b" t="t" l="l"/>
              <a:pathLst>
                <a:path h="293818" w="1015665">
                  <a:moveTo>
                    <a:pt x="0" y="0"/>
                  </a:moveTo>
                  <a:lnTo>
                    <a:pt x="1015665" y="0"/>
                  </a:lnTo>
                  <a:lnTo>
                    <a:pt x="1015665" y="293818"/>
                  </a:lnTo>
                  <a:lnTo>
                    <a:pt x="0" y="29381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15665" cy="350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Theory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50643" y="3335508"/>
            <a:ext cx="7347024" cy="1115592"/>
            <a:chOff x="0" y="0"/>
            <a:chExt cx="1935019" cy="2938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5019" cy="293818"/>
            </a:xfrm>
            <a:custGeom>
              <a:avLst/>
              <a:gdLst/>
              <a:ahLst/>
              <a:cxnLst/>
              <a:rect r="r" b="b" t="t" l="l"/>
              <a:pathLst>
                <a:path h="293818" w="1935019">
                  <a:moveTo>
                    <a:pt x="0" y="0"/>
                  </a:moveTo>
                  <a:lnTo>
                    <a:pt x="1935019" y="0"/>
                  </a:lnTo>
                  <a:lnTo>
                    <a:pt x="1935019" y="293818"/>
                  </a:lnTo>
                  <a:lnTo>
                    <a:pt x="0" y="29381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35019" cy="350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Game Feature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9389" y="3335508"/>
            <a:ext cx="5019911" cy="1115592"/>
            <a:chOff x="0" y="0"/>
            <a:chExt cx="1322116" cy="2938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2116" cy="293818"/>
            </a:xfrm>
            <a:custGeom>
              <a:avLst/>
              <a:gdLst/>
              <a:ahLst/>
              <a:cxnLst/>
              <a:rect r="r" b="b" t="t" l="l"/>
              <a:pathLst>
                <a:path h="293818" w="1322116">
                  <a:moveTo>
                    <a:pt x="0" y="0"/>
                  </a:moveTo>
                  <a:lnTo>
                    <a:pt x="1322116" y="0"/>
                  </a:lnTo>
                  <a:lnTo>
                    <a:pt x="1322116" y="293818"/>
                  </a:lnTo>
                  <a:lnTo>
                    <a:pt x="0" y="29381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22116" cy="350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Learning Outcome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8014" y="4643660"/>
            <a:ext cx="4468767" cy="974842"/>
            <a:chOff x="0" y="0"/>
            <a:chExt cx="2468194" cy="538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68194" cy="538425"/>
            </a:xfrm>
            <a:custGeom>
              <a:avLst/>
              <a:gdLst/>
              <a:ahLst/>
              <a:cxnLst/>
              <a:rect r="r" b="b" t="t" l="l"/>
              <a:pathLst>
                <a:path h="538425" w="2468194">
                  <a:moveTo>
                    <a:pt x="88355" y="0"/>
                  </a:moveTo>
                  <a:lnTo>
                    <a:pt x="2379838" y="0"/>
                  </a:lnTo>
                  <a:cubicBezTo>
                    <a:pt x="2403272" y="0"/>
                    <a:pt x="2425745" y="9309"/>
                    <a:pt x="2442315" y="25879"/>
                  </a:cubicBezTo>
                  <a:cubicBezTo>
                    <a:pt x="2458885" y="42448"/>
                    <a:pt x="2468194" y="64922"/>
                    <a:pt x="2468194" y="88355"/>
                  </a:cubicBezTo>
                  <a:lnTo>
                    <a:pt x="2468194" y="450070"/>
                  </a:lnTo>
                  <a:cubicBezTo>
                    <a:pt x="2468194" y="498868"/>
                    <a:pt x="2428636" y="538425"/>
                    <a:pt x="2379838" y="538425"/>
                  </a:cubicBezTo>
                  <a:lnTo>
                    <a:pt x="88355" y="538425"/>
                  </a:lnTo>
                  <a:cubicBezTo>
                    <a:pt x="39558" y="538425"/>
                    <a:pt x="0" y="498868"/>
                    <a:pt x="0" y="450070"/>
                  </a:cubicBezTo>
                  <a:lnTo>
                    <a:pt x="0" y="88355"/>
                  </a:lnTo>
                  <a:cubicBezTo>
                    <a:pt x="0" y="64922"/>
                    <a:pt x="9309" y="42448"/>
                    <a:pt x="25879" y="25879"/>
                  </a:cubicBezTo>
                  <a:cubicBezTo>
                    <a:pt x="42448" y="9309"/>
                    <a:pt x="64922" y="0"/>
                    <a:pt x="88355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468194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Behaviourism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8014" y="5809002"/>
            <a:ext cx="4468767" cy="974842"/>
            <a:chOff x="0" y="0"/>
            <a:chExt cx="2468194" cy="538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68194" cy="538425"/>
            </a:xfrm>
            <a:custGeom>
              <a:avLst/>
              <a:gdLst/>
              <a:ahLst/>
              <a:cxnLst/>
              <a:rect r="r" b="b" t="t" l="l"/>
              <a:pathLst>
                <a:path h="538425" w="2468194">
                  <a:moveTo>
                    <a:pt x="88355" y="0"/>
                  </a:moveTo>
                  <a:lnTo>
                    <a:pt x="2379838" y="0"/>
                  </a:lnTo>
                  <a:cubicBezTo>
                    <a:pt x="2403272" y="0"/>
                    <a:pt x="2425745" y="9309"/>
                    <a:pt x="2442315" y="25879"/>
                  </a:cubicBezTo>
                  <a:cubicBezTo>
                    <a:pt x="2458885" y="42448"/>
                    <a:pt x="2468194" y="64922"/>
                    <a:pt x="2468194" y="88355"/>
                  </a:cubicBezTo>
                  <a:lnTo>
                    <a:pt x="2468194" y="450070"/>
                  </a:lnTo>
                  <a:cubicBezTo>
                    <a:pt x="2468194" y="498868"/>
                    <a:pt x="2428636" y="538425"/>
                    <a:pt x="2379838" y="538425"/>
                  </a:cubicBezTo>
                  <a:lnTo>
                    <a:pt x="88355" y="538425"/>
                  </a:lnTo>
                  <a:cubicBezTo>
                    <a:pt x="39558" y="538425"/>
                    <a:pt x="0" y="498868"/>
                    <a:pt x="0" y="450070"/>
                  </a:cubicBezTo>
                  <a:lnTo>
                    <a:pt x="0" y="88355"/>
                  </a:lnTo>
                  <a:cubicBezTo>
                    <a:pt x="0" y="64922"/>
                    <a:pt x="9309" y="42448"/>
                    <a:pt x="25879" y="25879"/>
                  </a:cubicBezTo>
                  <a:cubicBezTo>
                    <a:pt x="42448" y="9309"/>
                    <a:pt x="64922" y="0"/>
                    <a:pt x="88355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468194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Cognitivism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8014" y="6974343"/>
            <a:ext cx="4468767" cy="974842"/>
            <a:chOff x="0" y="0"/>
            <a:chExt cx="2468194" cy="5384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8194" cy="538425"/>
            </a:xfrm>
            <a:custGeom>
              <a:avLst/>
              <a:gdLst/>
              <a:ahLst/>
              <a:cxnLst/>
              <a:rect r="r" b="b" t="t" l="l"/>
              <a:pathLst>
                <a:path h="538425" w="2468194">
                  <a:moveTo>
                    <a:pt x="88355" y="0"/>
                  </a:moveTo>
                  <a:lnTo>
                    <a:pt x="2379838" y="0"/>
                  </a:lnTo>
                  <a:cubicBezTo>
                    <a:pt x="2403272" y="0"/>
                    <a:pt x="2425745" y="9309"/>
                    <a:pt x="2442315" y="25879"/>
                  </a:cubicBezTo>
                  <a:cubicBezTo>
                    <a:pt x="2458885" y="42448"/>
                    <a:pt x="2468194" y="64922"/>
                    <a:pt x="2468194" y="88355"/>
                  </a:cubicBezTo>
                  <a:lnTo>
                    <a:pt x="2468194" y="450070"/>
                  </a:lnTo>
                  <a:cubicBezTo>
                    <a:pt x="2468194" y="498868"/>
                    <a:pt x="2428636" y="538425"/>
                    <a:pt x="2379838" y="538425"/>
                  </a:cubicBezTo>
                  <a:lnTo>
                    <a:pt x="88355" y="538425"/>
                  </a:lnTo>
                  <a:cubicBezTo>
                    <a:pt x="39558" y="538425"/>
                    <a:pt x="0" y="498868"/>
                    <a:pt x="0" y="450070"/>
                  </a:cubicBezTo>
                  <a:lnTo>
                    <a:pt x="0" y="88355"/>
                  </a:lnTo>
                  <a:cubicBezTo>
                    <a:pt x="0" y="64922"/>
                    <a:pt x="9309" y="42448"/>
                    <a:pt x="25879" y="25879"/>
                  </a:cubicBezTo>
                  <a:cubicBezTo>
                    <a:pt x="42448" y="9309"/>
                    <a:pt x="64922" y="0"/>
                    <a:pt x="88355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468194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Constructivism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8014" y="8139685"/>
            <a:ext cx="4468767" cy="974842"/>
            <a:chOff x="0" y="0"/>
            <a:chExt cx="2468194" cy="5384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68194" cy="538425"/>
            </a:xfrm>
            <a:custGeom>
              <a:avLst/>
              <a:gdLst/>
              <a:ahLst/>
              <a:cxnLst/>
              <a:rect r="r" b="b" t="t" l="l"/>
              <a:pathLst>
                <a:path h="538425" w="2468194">
                  <a:moveTo>
                    <a:pt x="88355" y="0"/>
                  </a:moveTo>
                  <a:lnTo>
                    <a:pt x="2379838" y="0"/>
                  </a:lnTo>
                  <a:cubicBezTo>
                    <a:pt x="2403272" y="0"/>
                    <a:pt x="2425745" y="9309"/>
                    <a:pt x="2442315" y="25879"/>
                  </a:cubicBezTo>
                  <a:cubicBezTo>
                    <a:pt x="2458885" y="42448"/>
                    <a:pt x="2468194" y="64922"/>
                    <a:pt x="2468194" y="88355"/>
                  </a:cubicBezTo>
                  <a:lnTo>
                    <a:pt x="2468194" y="450070"/>
                  </a:lnTo>
                  <a:cubicBezTo>
                    <a:pt x="2468194" y="498868"/>
                    <a:pt x="2428636" y="538425"/>
                    <a:pt x="2379838" y="538425"/>
                  </a:cubicBezTo>
                  <a:lnTo>
                    <a:pt x="88355" y="538425"/>
                  </a:lnTo>
                  <a:cubicBezTo>
                    <a:pt x="39558" y="538425"/>
                    <a:pt x="0" y="498868"/>
                    <a:pt x="0" y="450070"/>
                  </a:cubicBezTo>
                  <a:lnTo>
                    <a:pt x="0" y="88355"/>
                  </a:lnTo>
                  <a:cubicBezTo>
                    <a:pt x="0" y="64922"/>
                    <a:pt x="9309" y="42448"/>
                    <a:pt x="25879" y="25879"/>
                  </a:cubicBezTo>
                  <a:cubicBezTo>
                    <a:pt x="42448" y="9309"/>
                    <a:pt x="64922" y="0"/>
                    <a:pt x="88355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468194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Experientialism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47907" y="4656079"/>
            <a:ext cx="5992185" cy="974842"/>
            <a:chOff x="0" y="0"/>
            <a:chExt cx="1578189" cy="2567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78189" cy="256748"/>
            </a:xfrm>
            <a:custGeom>
              <a:avLst/>
              <a:gdLst/>
              <a:ahLst/>
              <a:cxnLst/>
              <a:rect r="r" b="b" t="t" l="l"/>
              <a:pathLst>
                <a:path h="256748" w="1578189">
                  <a:moveTo>
                    <a:pt x="0" y="0"/>
                  </a:moveTo>
                  <a:lnTo>
                    <a:pt x="1578189" y="0"/>
                  </a:lnTo>
                  <a:lnTo>
                    <a:pt x="1578189" y="256748"/>
                  </a:lnTo>
                  <a:lnTo>
                    <a:pt x="0" y="25674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578189" cy="31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Score, stars, demerit points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147907" y="5809002"/>
            <a:ext cx="5992185" cy="974842"/>
            <a:chOff x="0" y="0"/>
            <a:chExt cx="1578189" cy="2567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78189" cy="256748"/>
            </a:xfrm>
            <a:custGeom>
              <a:avLst/>
              <a:gdLst/>
              <a:ahLst/>
              <a:cxnLst/>
              <a:rect r="r" b="b" t="t" l="l"/>
              <a:pathLst>
                <a:path h="256748" w="1578189">
                  <a:moveTo>
                    <a:pt x="0" y="0"/>
                  </a:moveTo>
                  <a:lnTo>
                    <a:pt x="1578189" y="0"/>
                  </a:lnTo>
                  <a:lnTo>
                    <a:pt x="1578189" y="256748"/>
                  </a:lnTo>
                  <a:lnTo>
                    <a:pt x="0" y="25674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578189" cy="31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HUD, radio dispact, levels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147907" y="6964818"/>
            <a:ext cx="5992185" cy="974842"/>
            <a:chOff x="0" y="0"/>
            <a:chExt cx="1578189" cy="2567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78189" cy="256748"/>
            </a:xfrm>
            <a:custGeom>
              <a:avLst/>
              <a:gdLst/>
              <a:ahLst/>
              <a:cxnLst/>
              <a:rect r="r" b="b" t="t" l="l"/>
              <a:pathLst>
                <a:path h="256748" w="1578189">
                  <a:moveTo>
                    <a:pt x="0" y="0"/>
                  </a:moveTo>
                  <a:lnTo>
                    <a:pt x="1578189" y="0"/>
                  </a:lnTo>
                  <a:lnTo>
                    <a:pt x="1578189" y="256748"/>
                  </a:lnTo>
                  <a:lnTo>
                    <a:pt x="0" y="25674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578189" cy="31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Scenario-Based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47907" y="8120635"/>
            <a:ext cx="5992185" cy="974842"/>
            <a:chOff x="0" y="0"/>
            <a:chExt cx="1578189" cy="2567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78189" cy="256748"/>
            </a:xfrm>
            <a:custGeom>
              <a:avLst/>
              <a:gdLst/>
              <a:ahLst/>
              <a:cxnLst/>
              <a:rect r="r" b="b" t="t" l="l"/>
              <a:pathLst>
                <a:path h="256748" w="1578189">
                  <a:moveTo>
                    <a:pt x="0" y="0"/>
                  </a:moveTo>
                  <a:lnTo>
                    <a:pt x="1578189" y="0"/>
                  </a:lnTo>
                  <a:lnTo>
                    <a:pt x="1578189" y="256748"/>
                  </a:lnTo>
                  <a:lnTo>
                    <a:pt x="0" y="256748"/>
                  </a:ln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578189" cy="31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Drive, reflect, retry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51218" y="4643660"/>
            <a:ext cx="4663334" cy="974842"/>
            <a:chOff x="0" y="0"/>
            <a:chExt cx="2575657" cy="538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75657" cy="538425"/>
            </a:xfrm>
            <a:custGeom>
              <a:avLst/>
              <a:gdLst/>
              <a:ahLst/>
              <a:cxnLst/>
              <a:rect r="r" b="b" t="t" l="l"/>
              <a:pathLst>
                <a:path h="538425" w="2575657">
                  <a:moveTo>
                    <a:pt x="84669" y="0"/>
                  </a:moveTo>
                  <a:lnTo>
                    <a:pt x="2490988" y="0"/>
                  </a:lnTo>
                  <a:cubicBezTo>
                    <a:pt x="2537750" y="0"/>
                    <a:pt x="2575657" y="37907"/>
                    <a:pt x="2575657" y="84669"/>
                  </a:cubicBezTo>
                  <a:lnTo>
                    <a:pt x="2575657" y="453757"/>
                  </a:lnTo>
                  <a:cubicBezTo>
                    <a:pt x="2575657" y="500518"/>
                    <a:pt x="2537750" y="538425"/>
                    <a:pt x="2490988" y="538425"/>
                  </a:cubicBezTo>
                  <a:lnTo>
                    <a:pt x="84669" y="538425"/>
                  </a:lnTo>
                  <a:cubicBezTo>
                    <a:pt x="37907" y="538425"/>
                    <a:pt x="0" y="500518"/>
                    <a:pt x="0" y="453757"/>
                  </a:cubicBezTo>
                  <a:lnTo>
                    <a:pt x="0" y="84669"/>
                  </a:lnTo>
                  <a:cubicBezTo>
                    <a:pt x="0" y="37907"/>
                    <a:pt x="37907" y="0"/>
                    <a:pt x="84669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2575657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Develop Safe driving Habit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09821" y="5843597"/>
            <a:ext cx="4704731" cy="974842"/>
            <a:chOff x="0" y="0"/>
            <a:chExt cx="2598522" cy="5384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98522" cy="538425"/>
            </a:xfrm>
            <a:custGeom>
              <a:avLst/>
              <a:gdLst/>
              <a:ahLst/>
              <a:cxnLst/>
              <a:rect r="r" b="b" t="t" l="l"/>
              <a:pathLst>
                <a:path h="538425" w="2598522">
                  <a:moveTo>
                    <a:pt x="83924" y="0"/>
                  </a:moveTo>
                  <a:lnTo>
                    <a:pt x="2514598" y="0"/>
                  </a:lnTo>
                  <a:cubicBezTo>
                    <a:pt x="2536856" y="0"/>
                    <a:pt x="2558202" y="8842"/>
                    <a:pt x="2573941" y="24581"/>
                  </a:cubicBezTo>
                  <a:cubicBezTo>
                    <a:pt x="2589680" y="40319"/>
                    <a:pt x="2598522" y="61666"/>
                    <a:pt x="2598522" y="83924"/>
                  </a:cubicBezTo>
                  <a:lnTo>
                    <a:pt x="2598522" y="454502"/>
                  </a:lnTo>
                  <a:cubicBezTo>
                    <a:pt x="2598522" y="476760"/>
                    <a:pt x="2589680" y="498106"/>
                    <a:pt x="2573941" y="513845"/>
                  </a:cubicBezTo>
                  <a:cubicBezTo>
                    <a:pt x="2558202" y="529583"/>
                    <a:pt x="2536856" y="538425"/>
                    <a:pt x="2514598" y="538425"/>
                  </a:cubicBezTo>
                  <a:lnTo>
                    <a:pt x="83924" y="538425"/>
                  </a:lnTo>
                  <a:cubicBezTo>
                    <a:pt x="37574" y="538425"/>
                    <a:pt x="0" y="500852"/>
                    <a:pt x="0" y="454502"/>
                  </a:cubicBezTo>
                  <a:lnTo>
                    <a:pt x="0" y="83924"/>
                  </a:lnTo>
                  <a:cubicBezTo>
                    <a:pt x="0" y="61666"/>
                    <a:pt x="8842" y="40319"/>
                    <a:pt x="24581" y="24581"/>
                  </a:cubicBezTo>
                  <a:cubicBezTo>
                    <a:pt x="40319" y="8842"/>
                    <a:pt x="61666" y="0"/>
                    <a:pt x="83924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598522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Apply NZ rules w/o overload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09821" y="6964818"/>
            <a:ext cx="4704731" cy="974842"/>
            <a:chOff x="0" y="0"/>
            <a:chExt cx="2598522" cy="5384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98522" cy="538425"/>
            </a:xfrm>
            <a:custGeom>
              <a:avLst/>
              <a:gdLst/>
              <a:ahLst/>
              <a:cxnLst/>
              <a:rect r="r" b="b" t="t" l="l"/>
              <a:pathLst>
                <a:path h="538425" w="2598522">
                  <a:moveTo>
                    <a:pt x="83924" y="0"/>
                  </a:moveTo>
                  <a:lnTo>
                    <a:pt x="2514598" y="0"/>
                  </a:lnTo>
                  <a:cubicBezTo>
                    <a:pt x="2536856" y="0"/>
                    <a:pt x="2558202" y="8842"/>
                    <a:pt x="2573941" y="24581"/>
                  </a:cubicBezTo>
                  <a:cubicBezTo>
                    <a:pt x="2589680" y="40319"/>
                    <a:pt x="2598522" y="61666"/>
                    <a:pt x="2598522" y="83924"/>
                  </a:cubicBezTo>
                  <a:lnTo>
                    <a:pt x="2598522" y="454502"/>
                  </a:lnTo>
                  <a:cubicBezTo>
                    <a:pt x="2598522" y="476760"/>
                    <a:pt x="2589680" y="498106"/>
                    <a:pt x="2573941" y="513845"/>
                  </a:cubicBezTo>
                  <a:cubicBezTo>
                    <a:pt x="2558202" y="529583"/>
                    <a:pt x="2536856" y="538425"/>
                    <a:pt x="2514598" y="538425"/>
                  </a:cubicBezTo>
                  <a:lnTo>
                    <a:pt x="83924" y="538425"/>
                  </a:lnTo>
                  <a:cubicBezTo>
                    <a:pt x="37574" y="538425"/>
                    <a:pt x="0" y="500852"/>
                    <a:pt x="0" y="454502"/>
                  </a:cubicBezTo>
                  <a:lnTo>
                    <a:pt x="0" y="83924"/>
                  </a:lnTo>
                  <a:cubicBezTo>
                    <a:pt x="0" y="61666"/>
                    <a:pt x="8842" y="40319"/>
                    <a:pt x="24581" y="24581"/>
                  </a:cubicBezTo>
                  <a:cubicBezTo>
                    <a:pt x="40319" y="8842"/>
                    <a:pt x="61666" y="0"/>
                    <a:pt x="83924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598522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Recognize Hazards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49643" y="8082535"/>
            <a:ext cx="4704731" cy="974842"/>
            <a:chOff x="0" y="0"/>
            <a:chExt cx="2598522" cy="5384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98522" cy="538425"/>
            </a:xfrm>
            <a:custGeom>
              <a:avLst/>
              <a:gdLst/>
              <a:ahLst/>
              <a:cxnLst/>
              <a:rect r="r" b="b" t="t" l="l"/>
              <a:pathLst>
                <a:path h="538425" w="2598522">
                  <a:moveTo>
                    <a:pt x="83924" y="0"/>
                  </a:moveTo>
                  <a:lnTo>
                    <a:pt x="2514598" y="0"/>
                  </a:lnTo>
                  <a:cubicBezTo>
                    <a:pt x="2536856" y="0"/>
                    <a:pt x="2558202" y="8842"/>
                    <a:pt x="2573941" y="24581"/>
                  </a:cubicBezTo>
                  <a:cubicBezTo>
                    <a:pt x="2589680" y="40319"/>
                    <a:pt x="2598522" y="61666"/>
                    <a:pt x="2598522" y="83924"/>
                  </a:cubicBezTo>
                  <a:lnTo>
                    <a:pt x="2598522" y="454502"/>
                  </a:lnTo>
                  <a:cubicBezTo>
                    <a:pt x="2598522" y="476760"/>
                    <a:pt x="2589680" y="498106"/>
                    <a:pt x="2573941" y="513845"/>
                  </a:cubicBezTo>
                  <a:cubicBezTo>
                    <a:pt x="2558202" y="529583"/>
                    <a:pt x="2536856" y="538425"/>
                    <a:pt x="2514598" y="538425"/>
                  </a:cubicBezTo>
                  <a:lnTo>
                    <a:pt x="83924" y="538425"/>
                  </a:lnTo>
                  <a:cubicBezTo>
                    <a:pt x="37574" y="538425"/>
                    <a:pt x="0" y="500852"/>
                    <a:pt x="0" y="454502"/>
                  </a:cubicBezTo>
                  <a:lnTo>
                    <a:pt x="0" y="83924"/>
                  </a:lnTo>
                  <a:cubicBezTo>
                    <a:pt x="0" y="61666"/>
                    <a:pt x="8842" y="40319"/>
                    <a:pt x="24581" y="24581"/>
                  </a:cubicBezTo>
                  <a:cubicBezTo>
                    <a:pt x="40319" y="8842"/>
                    <a:pt x="61666" y="0"/>
                    <a:pt x="83924" y="0"/>
                  </a:cubicBezTo>
                  <a:close/>
                </a:path>
              </a:pathLst>
            </a:custGeom>
            <a:solidFill>
              <a:srgbClr val="FEBE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2598522" cy="59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See, understand and retry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28700" y="1020295"/>
            <a:ext cx="3746826" cy="96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FEBE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54660" y="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0" y="0"/>
                </a:moveTo>
                <a:lnTo>
                  <a:pt x="14506701" y="0"/>
                </a:lnTo>
                <a:lnTo>
                  <a:pt x="14506701" y="10734959"/>
                </a:lnTo>
                <a:lnTo>
                  <a:pt x="0" y="10734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711126" y="2349691"/>
            <a:ext cx="17657194" cy="21467713"/>
          </a:xfrm>
          <a:custGeom>
            <a:avLst/>
            <a:gdLst/>
            <a:ahLst/>
            <a:cxnLst/>
            <a:rect r="r" b="b" t="t" l="l"/>
            <a:pathLst>
              <a:path h="21467713" w="17657194">
                <a:moveTo>
                  <a:pt x="0" y="0"/>
                </a:moveTo>
                <a:lnTo>
                  <a:pt x="17657193" y="0"/>
                </a:lnTo>
                <a:lnTo>
                  <a:pt x="17657193" y="21467712"/>
                </a:lnTo>
                <a:lnTo>
                  <a:pt x="0" y="2146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92181" y="5143500"/>
            <a:ext cx="1863979" cy="5367480"/>
          </a:xfrm>
          <a:custGeom>
            <a:avLst/>
            <a:gdLst/>
            <a:ahLst/>
            <a:cxnLst/>
            <a:rect r="r" b="b" t="t" l="l"/>
            <a:pathLst>
              <a:path h="5367480" w="1863979">
                <a:moveTo>
                  <a:pt x="0" y="0"/>
                </a:moveTo>
                <a:lnTo>
                  <a:pt x="1863979" y="0"/>
                </a:lnTo>
                <a:lnTo>
                  <a:pt x="1863979" y="5367480"/>
                </a:lnTo>
                <a:lnTo>
                  <a:pt x="0" y="5367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7632" y="671512"/>
            <a:ext cx="1117071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LEARNING OUTCOMES</a:t>
            </a:r>
          </a:p>
          <a:p>
            <a:pPr algn="l">
              <a:lnSpc>
                <a:spcPts val="3060"/>
              </a:lnSpc>
            </a:pPr>
            <a:r>
              <a:rPr lang="en-US" sz="34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WHA</a:t>
            </a:r>
            <a:r>
              <a:rPr lang="en-US" sz="34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 LEARNERS PRACTISE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87168" y="3210562"/>
            <a:ext cx="9936025" cy="443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Learners can identify and apply NZ road rules</a:t>
            </a:r>
          </a:p>
          <a:p>
            <a:pPr algn="l">
              <a:lnSpc>
                <a:spcPts val="1399"/>
              </a:lnSpc>
            </a:pP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Learners can recognise hazards in varied environments</a:t>
            </a:r>
          </a:p>
          <a:p>
            <a:pPr algn="l">
              <a:lnSpc>
                <a:spcPts val="1399"/>
              </a:lnSpc>
            </a:pP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Learners develop safe driving habits through repeated practice</a:t>
            </a:r>
          </a:p>
          <a:p>
            <a:pPr algn="l">
              <a:lnSpc>
                <a:spcPts val="1399"/>
              </a:lnSpc>
            </a:pP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Learners transfer knowledge across contexts (city → rural → mountain)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2878" y="6221883"/>
            <a:ext cx="18450142" cy="5332360"/>
          </a:xfrm>
          <a:custGeom>
            <a:avLst/>
            <a:gdLst/>
            <a:ahLst/>
            <a:cxnLst/>
            <a:rect r="r" b="b" t="t" l="l"/>
            <a:pathLst>
              <a:path h="5332360" w="18450142">
                <a:moveTo>
                  <a:pt x="0" y="0"/>
                </a:moveTo>
                <a:lnTo>
                  <a:pt x="18450142" y="0"/>
                </a:lnTo>
                <a:lnTo>
                  <a:pt x="18450142" y="5332359"/>
                </a:lnTo>
                <a:lnTo>
                  <a:pt x="0" y="5332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2373" y="8431530"/>
            <a:ext cx="3485627" cy="1855470"/>
          </a:xfrm>
          <a:custGeom>
            <a:avLst/>
            <a:gdLst/>
            <a:ahLst/>
            <a:cxnLst/>
            <a:rect r="r" b="b" t="t" l="l"/>
            <a:pathLst>
              <a:path h="1855470" w="3485627">
                <a:moveTo>
                  <a:pt x="0" y="0"/>
                </a:moveTo>
                <a:lnTo>
                  <a:pt x="3485627" y="0"/>
                </a:lnTo>
                <a:lnTo>
                  <a:pt x="3485627" y="1855470"/>
                </a:lnTo>
                <a:lnTo>
                  <a:pt x="0" y="1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24393" y="6596923"/>
            <a:ext cx="8065331" cy="4293340"/>
          </a:xfrm>
          <a:custGeom>
            <a:avLst/>
            <a:gdLst/>
            <a:ahLst/>
            <a:cxnLst/>
            <a:rect r="r" b="b" t="t" l="l"/>
            <a:pathLst>
              <a:path h="4293340" w="8065331">
                <a:moveTo>
                  <a:pt x="8065331" y="0"/>
                </a:moveTo>
                <a:lnTo>
                  <a:pt x="0" y="0"/>
                </a:lnTo>
                <a:lnTo>
                  <a:pt x="0" y="4293340"/>
                </a:lnTo>
                <a:lnTo>
                  <a:pt x="8065331" y="4293340"/>
                </a:lnTo>
                <a:lnTo>
                  <a:pt x="8065331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79344" y="945341"/>
            <a:ext cx="3518016" cy="9944922"/>
          </a:xfrm>
          <a:custGeom>
            <a:avLst/>
            <a:gdLst/>
            <a:ahLst/>
            <a:cxnLst/>
            <a:rect r="r" b="b" t="t" l="l"/>
            <a:pathLst>
              <a:path h="9944922" w="3518016">
                <a:moveTo>
                  <a:pt x="0" y="0"/>
                </a:moveTo>
                <a:lnTo>
                  <a:pt x="3518016" y="0"/>
                </a:lnTo>
                <a:lnTo>
                  <a:pt x="3518016" y="9944922"/>
                </a:lnTo>
                <a:lnTo>
                  <a:pt x="0" y="9944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92322" y="-68941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39094" y="2191073"/>
            <a:ext cx="13209811" cy="13393978"/>
          </a:xfrm>
          <a:custGeom>
            <a:avLst/>
            <a:gdLst/>
            <a:ahLst/>
            <a:cxnLst/>
            <a:rect r="r" b="b" t="t" l="l"/>
            <a:pathLst>
              <a:path h="13393978" w="13209811">
                <a:moveTo>
                  <a:pt x="0" y="0"/>
                </a:moveTo>
                <a:lnTo>
                  <a:pt x="13209812" y="0"/>
                </a:lnTo>
                <a:lnTo>
                  <a:pt x="13209812" y="13393979"/>
                </a:lnTo>
                <a:lnTo>
                  <a:pt x="0" y="13393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55927" y="2069822"/>
            <a:ext cx="2889260" cy="2889260"/>
          </a:xfrm>
          <a:custGeom>
            <a:avLst/>
            <a:gdLst/>
            <a:ahLst/>
            <a:cxnLst/>
            <a:rect r="r" b="b" t="t" l="l"/>
            <a:pathLst>
              <a:path h="2889260" w="2889260">
                <a:moveTo>
                  <a:pt x="0" y="0"/>
                </a:moveTo>
                <a:lnTo>
                  <a:pt x="2889260" y="0"/>
                </a:lnTo>
                <a:lnTo>
                  <a:pt x="2889260" y="2889259"/>
                </a:lnTo>
                <a:lnTo>
                  <a:pt x="0" y="28892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1448" y="3438251"/>
            <a:ext cx="11003022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ule 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feedba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k i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d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eter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is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 pr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ed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ict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ab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or 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ar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asi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er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 te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st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and val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id</a:t>
            </a:r>
            <a:r>
              <a:rPr lang="en-US" sz="3999" strike="noStrike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38352" y="945341"/>
            <a:ext cx="1048921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AI USAGE DECISION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Not Used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81448" y="5841602"/>
            <a:ext cx="9775924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Potential risks of using AI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Hallucinations may mislead learners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Incorrect rule explanations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Inconsistent feedback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43809" y="-22398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0" y="0"/>
                </a:moveTo>
                <a:lnTo>
                  <a:pt x="14506702" y="0"/>
                </a:lnTo>
                <a:lnTo>
                  <a:pt x="14506702" y="10734960"/>
                </a:lnTo>
                <a:lnTo>
                  <a:pt x="0" y="10734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6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183915" y="2859311"/>
            <a:ext cx="18622066" cy="22640810"/>
          </a:xfrm>
          <a:custGeom>
            <a:avLst/>
            <a:gdLst/>
            <a:ahLst/>
            <a:cxnLst/>
            <a:rect r="r" b="b" t="t" l="l"/>
            <a:pathLst>
              <a:path h="22640810" w="18622066">
                <a:moveTo>
                  <a:pt x="0" y="0"/>
                </a:moveTo>
                <a:lnTo>
                  <a:pt x="18622066" y="0"/>
                </a:lnTo>
                <a:lnTo>
                  <a:pt x="18622066" y="22640810"/>
                </a:lnTo>
                <a:lnTo>
                  <a:pt x="0" y="22640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022" y="4839346"/>
            <a:ext cx="2278966" cy="5671634"/>
          </a:xfrm>
          <a:custGeom>
            <a:avLst/>
            <a:gdLst/>
            <a:ahLst/>
            <a:cxnLst/>
            <a:rect r="r" b="b" t="t" l="l"/>
            <a:pathLst>
              <a:path h="5671634" w="2278966">
                <a:moveTo>
                  <a:pt x="0" y="0"/>
                </a:moveTo>
                <a:lnTo>
                  <a:pt x="2278965" y="0"/>
                </a:lnTo>
                <a:lnTo>
                  <a:pt x="2278965" y="5671634"/>
                </a:lnTo>
                <a:lnTo>
                  <a:pt x="0" y="5671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19768" y="3509856"/>
            <a:ext cx="10659650" cy="580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Limited user testing sample size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Simplified driving physics and collision model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Limited driving road length and scenario diversity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Mobile design and controls not fully optimized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Limited accessibility support</a:t>
            </a:r>
          </a:p>
          <a:p>
            <a:pPr algn="l">
              <a:lnSpc>
                <a:spcPts val="516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019534" y="1307246"/>
            <a:ext cx="746011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</a:t>
            </a: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imi</a:t>
            </a: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TATIONS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7609" y="-22398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0" y="0"/>
                </a:moveTo>
                <a:lnTo>
                  <a:pt x="14506702" y="0"/>
                </a:lnTo>
                <a:lnTo>
                  <a:pt x="14506702" y="10734960"/>
                </a:lnTo>
                <a:lnTo>
                  <a:pt x="0" y="10734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6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183915" y="2576433"/>
            <a:ext cx="18854733" cy="22923688"/>
          </a:xfrm>
          <a:custGeom>
            <a:avLst/>
            <a:gdLst/>
            <a:ahLst/>
            <a:cxnLst/>
            <a:rect r="r" b="b" t="t" l="l"/>
            <a:pathLst>
              <a:path h="22923688" w="18854733">
                <a:moveTo>
                  <a:pt x="0" y="0"/>
                </a:moveTo>
                <a:lnTo>
                  <a:pt x="18854734" y="0"/>
                </a:lnTo>
                <a:lnTo>
                  <a:pt x="18854734" y="22923688"/>
                </a:lnTo>
                <a:lnTo>
                  <a:pt x="0" y="229236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77978" y="3345577"/>
            <a:ext cx="10840313" cy="515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Expa</a:t>
            </a: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nd user testing with a more diverse learner group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Enhance driving physics and collision realism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Extend road network and scenario diversity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Improve mobile UI and control responsiveness</a:t>
            </a:r>
          </a:p>
          <a:p>
            <a:pPr algn="l" marL="796009" indent="-398004" lvl="1">
              <a:lnSpc>
                <a:spcPts val="5161"/>
              </a:lnSpc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Add comprehensive accessibility features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373022" y="4839346"/>
            <a:ext cx="2278966" cy="5671634"/>
          </a:xfrm>
          <a:custGeom>
            <a:avLst/>
            <a:gdLst/>
            <a:ahLst/>
            <a:cxnLst/>
            <a:rect r="r" b="b" t="t" l="l"/>
            <a:pathLst>
              <a:path h="5671634" w="2278966">
                <a:moveTo>
                  <a:pt x="0" y="0"/>
                </a:moveTo>
                <a:lnTo>
                  <a:pt x="2278965" y="0"/>
                </a:lnTo>
                <a:lnTo>
                  <a:pt x="2278965" y="5671634"/>
                </a:lnTo>
                <a:lnTo>
                  <a:pt x="0" y="5671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83403" y="1171575"/>
            <a:ext cx="483755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49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FUTURE PLANS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6730" y="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0" y="0"/>
                </a:lnTo>
                <a:lnTo>
                  <a:pt x="16694540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52372" y="1574551"/>
            <a:ext cx="12173731" cy="12343454"/>
          </a:xfrm>
          <a:custGeom>
            <a:avLst/>
            <a:gdLst/>
            <a:ahLst/>
            <a:cxnLst/>
            <a:rect r="r" b="b" t="t" l="l"/>
            <a:pathLst>
              <a:path h="12343454" w="12173731">
                <a:moveTo>
                  <a:pt x="0" y="0"/>
                </a:moveTo>
                <a:lnTo>
                  <a:pt x="12173731" y="0"/>
                </a:lnTo>
                <a:lnTo>
                  <a:pt x="12173731" y="12343454"/>
                </a:lnTo>
                <a:lnTo>
                  <a:pt x="0" y="1234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32392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3505119" y="0"/>
                </a:moveTo>
                <a:lnTo>
                  <a:pt x="0" y="0"/>
                </a:lnTo>
                <a:lnTo>
                  <a:pt x="0" y="9908463"/>
                </a:lnTo>
                <a:lnTo>
                  <a:pt x="3505119" y="9908463"/>
                </a:lnTo>
                <a:lnTo>
                  <a:pt x="350511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3507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0" y="0"/>
                </a:moveTo>
                <a:lnTo>
                  <a:pt x="4374493" y="0"/>
                </a:lnTo>
                <a:lnTo>
                  <a:pt x="4374493" y="2328632"/>
                </a:lnTo>
                <a:lnTo>
                  <a:pt x="0" y="232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0699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0" y="0"/>
                </a:moveTo>
                <a:lnTo>
                  <a:pt x="3505118" y="0"/>
                </a:lnTo>
                <a:lnTo>
                  <a:pt x="3505118" y="9908463"/>
                </a:lnTo>
                <a:lnTo>
                  <a:pt x="0" y="9908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4374493" y="0"/>
                </a:moveTo>
                <a:lnTo>
                  <a:pt x="0" y="0"/>
                </a:lnTo>
                <a:lnTo>
                  <a:pt x="0" y="2328632"/>
                </a:lnTo>
                <a:lnTo>
                  <a:pt x="4374493" y="2328632"/>
                </a:lnTo>
                <a:lnTo>
                  <a:pt x="4374493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730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7734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85361" y="2771754"/>
            <a:ext cx="4574082" cy="4743493"/>
          </a:xfrm>
          <a:custGeom>
            <a:avLst/>
            <a:gdLst/>
            <a:ahLst/>
            <a:cxnLst/>
            <a:rect r="r" b="b" t="t" l="l"/>
            <a:pathLst>
              <a:path h="4743493" w="4574082">
                <a:moveTo>
                  <a:pt x="0" y="0"/>
                </a:moveTo>
                <a:lnTo>
                  <a:pt x="4574082" y="0"/>
                </a:lnTo>
                <a:lnTo>
                  <a:pt x="4574082" y="4743492"/>
                </a:lnTo>
                <a:lnTo>
                  <a:pt x="0" y="47434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176481" y="4729676"/>
            <a:ext cx="9142507" cy="99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5"/>
              </a:lnSpc>
            </a:pPr>
            <a:r>
              <a:rPr lang="en-US" sz="7696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Q &amp;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49989" y="2905320"/>
            <a:ext cx="3619649" cy="100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2181" y="6298424"/>
            <a:ext cx="1395264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WenQuanYi"/>
                <a:ea typeface="WenQuanYi"/>
                <a:cs typeface="WenQuanYi"/>
                <a:sym typeface="WenQuanYi"/>
              </a:rPr>
              <a:t>Team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9238" y="4765675"/>
            <a:ext cx="95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675985" y="7467513"/>
            <a:ext cx="1115556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  <a:hlinkClick r:id="rId13" tooltip="https://softeng701-2026.github.io/group2-nz-road-safety-game/"/>
              </a:rPr>
              <a:t>https://softeng701-2026.github.io/group2-nz-road-safety-game/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37228" y="2603378"/>
            <a:ext cx="2070348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EBE00"/>
                </a:solidFill>
                <a:latin typeface="Better Together Caps"/>
                <a:ea typeface="Better Together Caps"/>
                <a:cs typeface="Better Together Caps"/>
                <a:sym typeface="Better Together Caps"/>
              </a:rPr>
              <a:t>Scan to 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DAHLNtWgzLo</dc:identifier>
  <dcterms:modified xsi:type="dcterms:W3CDTF">2011-08-01T06:04:30Z</dcterms:modified>
  <cp:revision>1</cp:revision>
  <dc:title>SE701-Group2-NZ_road_safety_final</dc:title>
</cp:coreProperties>
</file>