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Playfair Display"/>
      <p:regular r:id="rId18"/>
      <p:bold r:id="rId19"/>
      <p:italic r:id="rId20"/>
      <p:boldItalic r:id="rId21"/>
    </p:embeddedFont>
    <p:embeddedFont>
      <p:font typeface="Montserrat"/>
      <p:regular r:id="rId22"/>
      <p:bold r:id="rId23"/>
      <p:italic r:id="rId24"/>
      <p:boldItalic r:id="rId25"/>
    </p:embeddedFont>
    <p:embeddedFont>
      <p:font typeface="Oswa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2" name="Kurt Daniel Lucas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fairDisplay-italic.fntdata"/><Relationship Id="rId22" Type="http://schemas.openxmlformats.org/officeDocument/2006/relationships/font" Target="fonts/Montserrat-regular.fntdata"/><Relationship Id="rId21" Type="http://schemas.openxmlformats.org/officeDocument/2006/relationships/font" Target="fonts/PlayfairDisplay-boldItalic.fntdata"/><Relationship Id="rId24" Type="http://schemas.openxmlformats.org/officeDocument/2006/relationships/font" Target="fonts/Montserrat-italic.fntdata"/><Relationship Id="rId23" Type="http://schemas.openxmlformats.org/officeDocument/2006/relationships/font" Target="fonts/Montserra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26" Type="http://schemas.openxmlformats.org/officeDocument/2006/relationships/font" Target="fonts/Oswald-regular.fntdata"/><Relationship Id="rId25" Type="http://schemas.openxmlformats.org/officeDocument/2006/relationships/font" Target="fonts/Montserrat-boldItalic.fntdata"/><Relationship Id="rId27" Type="http://schemas.openxmlformats.org/officeDocument/2006/relationships/font" Target="fonts/Oswald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PlayfairDisplay-bold.fntdata"/><Relationship Id="rId18" Type="http://schemas.openxmlformats.org/officeDocument/2006/relationships/font" Target="fonts/PlayfairDisplay-regular.fntdata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5-18T09:46:46.280">
    <p:pos x="249" y="130"/>
    <p:text>Please add or remove anything nothing written yet is set and don't worry about redesigning it how you want this was just a theme I randomly came up with</p:text>
  </p:cm>
  <p:cm authorId="0" idx="2" dt="2026-05-18T09:48:02.786">
    <p:pos x="249" y="230"/>
    <p:text>I'm not sure if I added too many things to cover in just 5 mins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2dee64aaf_1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2dee64aaf_1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e2dee64aaf_2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e2dee64aaf_2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32f04f2aa_4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2" name="Google Shape;102;g3e32f04f2aa_4_0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3e32f04f2aa_4_0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e32f04f2aa_4_5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4" name="Google Shape;154;g3e32f04f2aa_4_55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3e32f04f2aa_4_55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e32f04f2aa_4_10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8" name="Google Shape;208;g3e32f04f2aa_4_109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g3e32f04f2aa_4_109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e32f04f2aa_4_23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3" name="Google Shape;333;g3e32f04f2aa_4_233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g3e32f04f2aa_4_233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e2dee64aaf_2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e2dee64aaf_2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e2dee64aaf_2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3e2dee64aaf_2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e2dee64aaf_2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3e2dee64aaf_2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e32f04f2aa_1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3e32f04f2aa_1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4286250" y="0"/>
            <a:ext cx="723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4358475" y="0"/>
            <a:ext cx="38532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44250" y="3550650"/>
            <a:ext cx="4910100" cy="5778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rot="5400000">
            <a:off x="4550700" y="-498600"/>
            <a:ext cx="42600" cy="845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234050"/>
            <a:ext cx="39999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234050"/>
            <a:ext cx="39999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0816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highlight>
                  <a:schemeClr val="dk1"/>
                </a:highlight>
              </a:defRPr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999925"/>
            <a:ext cx="8520600" cy="214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op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fair Display"/>
              <a:buChar char="●"/>
              <a:defRPr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comments" Target="../comments/comment1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ctr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Road Ready Aotearoa</a:t>
            </a:r>
            <a:endParaRPr/>
          </a:p>
        </p:txBody>
      </p:sp>
      <p:sp>
        <p:nvSpPr>
          <p:cNvPr id="60" name="Google Shape;60;p14"/>
          <p:cNvSpPr txBox="1"/>
          <p:nvPr>
            <p:ph idx="1" type="subTitle"/>
          </p:nvPr>
        </p:nvSpPr>
        <p:spPr>
          <a:xfrm>
            <a:off x="344250" y="4090100"/>
            <a:ext cx="49101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Week 10 - Design &amp; User Research</a:t>
            </a:r>
            <a:endParaRPr sz="1800"/>
          </a:p>
        </p:txBody>
      </p:sp>
      <p:sp>
        <p:nvSpPr>
          <p:cNvPr id="61" name="Google Shape;61;p14"/>
          <p:cNvSpPr txBox="1"/>
          <p:nvPr/>
        </p:nvSpPr>
        <p:spPr>
          <a:xfrm>
            <a:off x="344250" y="749775"/>
            <a:ext cx="3798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SE701 Group 2</a:t>
            </a:r>
            <a:endParaRPr sz="20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/>
          <p:nvPr/>
        </p:nvSpPr>
        <p:spPr>
          <a:xfrm>
            <a:off x="0" y="0"/>
            <a:ext cx="9144000" cy="985500"/>
          </a:xfrm>
          <a:prstGeom prst="rect">
            <a:avLst/>
          </a:prstGeom>
          <a:solidFill>
            <a:srgbClr val="01AF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028090"/>
              </a:highlight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395800" y="206400"/>
            <a:ext cx="8140200" cy="572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028090"/>
              </a:highlight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68" name="Google Shape;68;p15"/>
          <p:cNvSpPr txBox="1"/>
          <p:nvPr>
            <p:ph type="title"/>
          </p:nvPr>
        </p:nvSpPr>
        <p:spPr>
          <a:xfrm>
            <a:off x="395800" y="206400"/>
            <a:ext cx="85206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Today’s Agenda </a:t>
            </a:r>
            <a:endParaRPr/>
          </a:p>
        </p:txBody>
      </p:sp>
      <p:sp>
        <p:nvSpPr>
          <p:cNvPr id="69" name="Google Shape;69;p15"/>
          <p:cNvSpPr/>
          <p:nvPr/>
        </p:nvSpPr>
        <p:spPr>
          <a:xfrm>
            <a:off x="395800" y="1390925"/>
            <a:ext cx="508200" cy="508200"/>
          </a:xfrm>
          <a:prstGeom prst="rect">
            <a:avLst/>
          </a:prstGeom>
          <a:solidFill>
            <a:srgbClr val="01AF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Oswald"/>
                <a:ea typeface="Oswald"/>
                <a:cs typeface="Oswald"/>
                <a:sym typeface="Oswald"/>
              </a:rPr>
              <a:t>01</a:t>
            </a:r>
            <a:endParaRPr sz="21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960050" y="1321775"/>
            <a:ext cx="4036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Updates from Week 9</a:t>
            </a:r>
            <a:endParaRPr sz="18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accen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What has Changed based on last week’s feedback</a:t>
            </a:r>
            <a:endParaRPr sz="1200">
              <a:solidFill>
                <a:schemeClr val="accen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395800" y="2304550"/>
            <a:ext cx="508200" cy="508200"/>
          </a:xfrm>
          <a:prstGeom prst="rect">
            <a:avLst/>
          </a:prstGeom>
          <a:solidFill>
            <a:srgbClr val="01AF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Oswald"/>
                <a:ea typeface="Oswald"/>
                <a:cs typeface="Oswald"/>
                <a:sym typeface="Oswald"/>
              </a:rPr>
              <a:t>02</a:t>
            </a:r>
            <a:endParaRPr sz="21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395800" y="3218175"/>
            <a:ext cx="508200" cy="508200"/>
          </a:xfrm>
          <a:prstGeom prst="rect">
            <a:avLst/>
          </a:prstGeom>
          <a:solidFill>
            <a:srgbClr val="01AF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Oswald"/>
                <a:ea typeface="Oswald"/>
                <a:cs typeface="Oswald"/>
                <a:sym typeface="Oswald"/>
              </a:rPr>
              <a:t>03</a:t>
            </a:r>
            <a:endParaRPr sz="21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395800" y="4131800"/>
            <a:ext cx="508200" cy="508200"/>
          </a:xfrm>
          <a:prstGeom prst="rect">
            <a:avLst/>
          </a:prstGeom>
          <a:solidFill>
            <a:srgbClr val="01AF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Oswald"/>
                <a:ea typeface="Oswald"/>
                <a:cs typeface="Oswald"/>
                <a:sym typeface="Oswald"/>
              </a:rPr>
              <a:t>04</a:t>
            </a:r>
            <a:endParaRPr sz="21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4996250" y="1390925"/>
            <a:ext cx="508200" cy="508200"/>
          </a:xfrm>
          <a:prstGeom prst="rect">
            <a:avLst/>
          </a:prstGeom>
          <a:solidFill>
            <a:srgbClr val="01AF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Oswald"/>
                <a:ea typeface="Oswald"/>
                <a:cs typeface="Oswald"/>
                <a:sym typeface="Oswald"/>
              </a:rPr>
              <a:t>05</a:t>
            </a:r>
            <a:endParaRPr sz="21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4996250" y="2317650"/>
            <a:ext cx="508200" cy="508200"/>
          </a:xfrm>
          <a:prstGeom prst="rect">
            <a:avLst/>
          </a:prstGeom>
          <a:solidFill>
            <a:srgbClr val="01AF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Oswald"/>
                <a:ea typeface="Oswald"/>
                <a:cs typeface="Oswald"/>
                <a:sym typeface="Oswald"/>
              </a:rPr>
              <a:t>06</a:t>
            </a:r>
            <a:endParaRPr sz="21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4996250" y="3218175"/>
            <a:ext cx="508200" cy="508200"/>
          </a:xfrm>
          <a:prstGeom prst="rect">
            <a:avLst/>
          </a:prstGeom>
          <a:solidFill>
            <a:srgbClr val="01AF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Oswald"/>
                <a:ea typeface="Oswald"/>
                <a:cs typeface="Oswald"/>
                <a:sym typeface="Oswald"/>
              </a:rPr>
              <a:t>07</a:t>
            </a:r>
            <a:endParaRPr sz="21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960050" y="2235400"/>
            <a:ext cx="4036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User Persona</a:t>
            </a:r>
            <a:endParaRPr sz="18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accen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Sarath &amp; Sofia - who are we designing for</a:t>
            </a:r>
            <a:endParaRPr sz="1200">
              <a:solidFill>
                <a:schemeClr val="accen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960050" y="3175225"/>
            <a:ext cx="4036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Real User Feedback</a:t>
            </a:r>
            <a:endParaRPr sz="18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accen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Interview finding from two participants</a:t>
            </a:r>
            <a:endParaRPr sz="1200">
              <a:solidFill>
                <a:schemeClr val="accen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960050" y="4062650"/>
            <a:ext cx="4036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Improved Persona</a:t>
            </a:r>
            <a:endParaRPr sz="18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accen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How personas evolved after testing</a:t>
            </a:r>
            <a:endParaRPr sz="1200">
              <a:solidFill>
                <a:schemeClr val="accen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5560425" y="1321775"/>
            <a:ext cx="4036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Prototype &amp; Wireframes</a:t>
            </a:r>
            <a:endParaRPr sz="18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accen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Mission Map V.C - interaction &amp; learning goals</a:t>
            </a:r>
            <a:endParaRPr sz="1200">
              <a:solidFill>
                <a:schemeClr val="accen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5560425" y="2235400"/>
            <a:ext cx="4036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Educational Theory</a:t>
            </a:r>
            <a:endParaRPr sz="18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accen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Linking theory to </a:t>
            </a:r>
            <a:r>
              <a:rPr lang="en-GB" sz="1200">
                <a:solidFill>
                  <a:schemeClr val="accen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design</a:t>
            </a:r>
            <a:r>
              <a:rPr lang="en-GB" sz="1200">
                <a:solidFill>
                  <a:schemeClr val="accen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decisions</a:t>
            </a:r>
            <a:endParaRPr sz="1200">
              <a:solidFill>
                <a:schemeClr val="accen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5560425" y="3175225"/>
            <a:ext cx="4036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Next Steps</a:t>
            </a:r>
            <a:endParaRPr sz="18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accen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Plan before Week 11</a:t>
            </a:r>
            <a:endParaRPr sz="1200">
              <a:solidFill>
                <a:schemeClr val="accen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311700" y="426475"/>
            <a:ext cx="8520600" cy="572700"/>
          </a:xfrm>
          <a:prstGeom prst="rect">
            <a:avLst/>
          </a:prstGeom>
          <a:solidFill>
            <a:srgbClr val="01AFD1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Updates from Week 9</a:t>
            </a:r>
            <a:endParaRPr sz="1400">
              <a:solidFill>
                <a:srgbClr val="000000"/>
              </a:solidFill>
              <a:highlight>
                <a:srgbClr val="028090"/>
              </a:highlight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365710" y="1366685"/>
            <a:ext cx="8412600" cy="96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6"/>
          <p:cNvSpPr/>
          <p:nvPr/>
        </p:nvSpPr>
        <p:spPr>
          <a:xfrm>
            <a:off x="365710" y="1366685"/>
            <a:ext cx="82200" cy="960000"/>
          </a:xfrm>
          <a:prstGeom prst="rect">
            <a:avLst/>
          </a:prstGeom>
          <a:solidFill>
            <a:srgbClr val="E74C3C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6"/>
          <p:cNvSpPr/>
          <p:nvPr/>
        </p:nvSpPr>
        <p:spPr>
          <a:xfrm>
            <a:off x="548590" y="1412405"/>
            <a:ext cx="8046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🎯  Narrowed Target Users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548590" y="1732445"/>
            <a:ext cx="7863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Arial"/>
              <a:buNone/>
            </a:pPr>
            <a:r>
              <a:rPr b="0" i="0" lang="en-GB" sz="13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Originally 3 target groups (Beginners, Students, Newcomers) → Focused exclusively on Newcomers to New Zealand.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365710" y="2463965"/>
            <a:ext cx="8412600" cy="96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6"/>
          <p:cNvSpPr/>
          <p:nvPr/>
        </p:nvSpPr>
        <p:spPr>
          <a:xfrm>
            <a:off x="365710" y="2463965"/>
            <a:ext cx="82200" cy="960000"/>
          </a:xfrm>
          <a:prstGeom prst="rect">
            <a:avLst/>
          </a:prstGeom>
          <a:solidFill>
            <a:srgbClr val="2980B9"/>
          </a:solidFill>
          <a:ln cap="flat" cmpd="sng" w="127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6"/>
          <p:cNvSpPr/>
          <p:nvPr/>
        </p:nvSpPr>
        <p:spPr>
          <a:xfrm>
            <a:off x="548590" y="2509685"/>
            <a:ext cx="8046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💡  Rationale for the Change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548590" y="2829725"/>
            <a:ext cx="7863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Arial"/>
              <a:buNone/>
            </a:pPr>
            <a:r>
              <a:rPr b="0" i="0" lang="en-GB" sz="13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Newcomers face the most distinct and urgent challenges — unfamiliar signs, give-way rules, and driving culture — making them the highest-impact audience.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365710" y="3561245"/>
            <a:ext cx="8412600" cy="96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6"/>
          <p:cNvSpPr/>
          <p:nvPr/>
        </p:nvSpPr>
        <p:spPr>
          <a:xfrm>
            <a:off x="365710" y="3561245"/>
            <a:ext cx="82200" cy="960000"/>
          </a:xfrm>
          <a:prstGeom prst="rect">
            <a:avLst/>
          </a:prstGeom>
          <a:solidFill>
            <a:srgbClr val="27AE60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6"/>
          <p:cNvSpPr/>
          <p:nvPr/>
        </p:nvSpPr>
        <p:spPr>
          <a:xfrm>
            <a:off x="548590" y="3606965"/>
            <a:ext cx="8046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🔄  Impact on Product Direction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548590" y="3927005"/>
            <a:ext cx="7863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Arial"/>
              <a:buNone/>
            </a:pPr>
            <a:r>
              <a:rPr b="0" i="0" lang="en-GB" sz="13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Features, language, and content will now be tailored specifically for international drivers adapting to NZ road rules, simplifying our design scope.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1AF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7"/>
          <p:cNvSpPr/>
          <p:nvPr/>
        </p:nvSpPr>
        <p:spPr>
          <a:xfrm>
            <a:off x="365750" y="164550"/>
            <a:ext cx="8151300" cy="429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i="0" lang="en-GB" sz="27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User </a:t>
            </a:r>
            <a:r>
              <a:rPr i="0" lang="en-GB" sz="27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Persona</a:t>
            </a:r>
            <a:endParaRPr i="0" sz="2700" u="none" cap="none" strike="noStrike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07" name="Google Shape;107;p17"/>
          <p:cNvSpPr/>
          <p:nvPr/>
        </p:nvSpPr>
        <p:spPr>
          <a:xfrm>
            <a:off x="0" y="777240"/>
            <a:ext cx="2560320" cy="58521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8" name="Google Shape;10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914400"/>
            <a:ext cx="2103120" cy="1920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7"/>
          <p:cNvSpPr/>
          <p:nvPr/>
        </p:nvSpPr>
        <p:spPr>
          <a:xfrm>
            <a:off x="228600" y="2880360"/>
            <a:ext cx="2103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750"/>
              <a:buFont typeface="Calibri"/>
              <a:buNone/>
            </a:pPr>
            <a:r>
              <a:rPr b="0" i="1" lang="en-GB" sz="7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Generated by AI model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7"/>
          <p:cNvSpPr/>
          <p:nvPr/>
        </p:nvSpPr>
        <p:spPr>
          <a:xfrm>
            <a:off x="91440" y="310896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459"/>
              </a:buClr>
              <a:buSzPts val="2000"/>
              <a:buFont typeface="Georgia"/>
              <a:buNone/>
            </a:pPr>
            <a:r>
              <a:rPr b="1" i="0" lang="en-GB" sz="2000" u="none" cap="none" strike="noStrike">
                <a:solidFill>
                  <a:srgbClr val="1B2459"/>
                </a:solidFill>
                <a:latin typeface="Georgia"/>
                <a:ea typeface="Georgia"/>
                <a:cs typeface="Georgia"/>
                <a:sym typeface="Georgia"/>
              </a:rPr>
              <a:t>Sarath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457200" y="3456432"/>
            <a:ext cx="1645920" cy="36576"/>
          </a:xfrm>
          <a:prstGeom prst="rect">
            <a:avLst/>
          </a:prstGeom>
          <a:solidFill>
            <a:srgbClr val="E86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7"/>
          <p:cNvSpPr/>
          <p:nvPr/>
        </p:nvSpPr>
        <p:spPr>
          <a:xfrm>
            <a:off x="137160" y="3547872"/>
            <a:ext cx="22860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GB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"How do I handle these roundabouts? Everyone just goes without stopping!"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7"/>
          <p:cNvSpPr/>
          <p:nvPr/>
        </p:nvSpPr>
        <p:spPr>
          <a:xfrm>
            <a:off x="2697480" y="868680"/>
            <a:ext cx="29260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6E"/>
              </a:buClr>
              <a:buSzPts val="1200"/>
              <a:buFont typeface="Calibri"/>
              <a:buNone/>
            </a:pPr>
            <a:r>
              <a:rPr b="1" i="0" lang="en-GB" sz="1200" u="sng" cap="none" strike="noStrike">
                <a:solidFill>
                  <a:srgbClr val="7B2D6E"/>
                </a:solidFill>
                <a:latin typeface="Calibri"/>
                <a:ea typeface="Calibri"/>
                <a:cs typeface="Calibri"/>
                <a:sym typeface="Calibri"/>
              </a:rPr>
              <a:t>Demographic info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7"/>
          <p:cNvSpPr/>
          <p:nvPr/>
        </p:nvSpPr>
        <p:spPr>
          <a:xfrm>
            <a:off x="2697480" y="1207008"/>
            <a:ext cx="91440" cy="91440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7"/>
          <p:cNvSpPr/>
          <p:nvPr/>
        </p:nvSpPr>
        <p:spPr>
          <a:xfrm>
            <a:off x="2862072" y="114300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GB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30 years old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7"/>
          <p:cNvSpPr/>
          <p:nvPr/>
        </p:nvSpPr>
        <p:spPr>
          <a:xfrm>
            <a:off x="2697480" y="1444752"/>
            <a:ext cx="91440" cy="91440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7"/>
          <p:cNvSpPr/>
          <p:nvPr/>
        </p:nvSpPr>
        <p:spPr>
          <a:xfrm>
            <a:off x="2862072" y="1380744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GB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Software Tester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7"/>
          <p:cNvSpPr/>
          <p:nvPr/>
        </p:nvSpPr>
        <p:spPr>
          <a:xfrm>
            <a:off x="2697480" y="1682496"/>
            <a:ext cx="91440" cy="91440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7"/>
          <p:cNvSpPr/>
          <p:nvPr/>
        </p:nvSpPr>
        <p:spPr>
          <a:xfrm>
            <a:off x="2862072" y="161848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GB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Open Work Visa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2697480" y="1920240"/>
            <a:ext cx="91440" cy="91440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7"/>
          <p:cNvSpPr/>
          <p:nvPr/>
        </p:nvSpPr>
        <p:spPr>
          <a:xfrm>
            <a:off x="2862072" y="1856232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GB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Auckland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7"/>
          <p:cNvSpPr/>
          <p:nvPr/>
        </p:nvSpPr>
        <p:spPr>
          <a:xfrm>
            <a:off x="2697480" y="2231136"/>
            <a:ext cx="29260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6E"/>
              </a:buClr>
              <a:buSzPts val="1200"/>
              <a:buFont typeface="Calibri"/>
              <a:buNone/>
            </a:pPr>
            <a:r>
              <a:rPr b="1" i="0" lang="en-GB" sz="1200" u="sng" cap="none" strike="noStrike">
                <a:solidFill>
                  <a:srgbClr val="7B2D6E"/>
                </a:solidFill>
                <a:latin typeface="Calibri"/>
                <a:ea typeface="Calibri"/>
                <a:cs typeface="Calibri"/>
                <a:sym typeface="Calibri"/>
              </a:rPr>
              <a:t>Personalities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7"/>
          <p:cNvSpPr/>
          <p:nvPr/>
        </p:nvSpPr>
        <p:spPr>
          <a:xfrm>
            <a:off x="2697480" y="2569464"/>
            <a:ext cx="91440" cy="91440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7"/>
          <p:cNvSpPr/>
          <p:nvPr/>
        </p:nvSpPr>
        <p:spPr>
          <a:xfrm>
            <a:off x="2862072" y="2505456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GB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Methodical and detail-oriented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7"/>
          <p:cNvSpPr/>
          <p:nvPr/>
        </p:nvSpPr>
        <p:spPr>
          <a:xfrm>
            <a:off x="2697480" y="2807208"/>
            <a:ext cx="91440" cy="91440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7"/>
          <p:cNvSpPr/>
          <p:nvPr/>
        </p:nvSpPr>
        <p:spPr>
          <a:xfrm>
            <a:off x="2862072" y="274320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GB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Comfortable with technology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7"/>
          <p:cNvSpPr/>
          <p:nvPr/>
        </p:nvSpPr>
        <p:spPr>
          <a:xfrm>
            <a:off x="2697480" y="3044952"/>
            <a:ext cx="91440" cy="91440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7"/>
          <p:cNvSpPr/>
          <p:nvPr/>
        </p:nvSpPr>
        <p:spPr>
          <a:xfrm>
            <a:off x="2862072" y="2980944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GB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Prefers to learn by doing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7"/>
          <p:cNvSpPr/>
          <p:nvPr/>
        </p:nvSpPr>
        <p:spPr>
          <a:xfrm>
            <a:off x="2697480" y="3282696"/>
            <a:ext cx="91440" cy="91440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7"/>
          <p:cNvSpPr/>
          <p:nvPr/>
        </p:nvSpPr>
        <p:spPr>
          <a:xfrm>
            <a:off x="2862072" y="321868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GB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Cautious in unfamiliar situations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/>
          <p:nvPr/>
        </p:nvSpPr>
        <p:spPr>
          <a:xfrm>
            <a:off x="2697480" y="3593592"/>
            <a:ext cx="29260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6E"/>
              </a:buClr>
              <a:buSzPts val="1200"/>
              <a:buFont typeface="Calibri"/>
              <a:buNone/>
            </a:pPr>
            <a:r>
              <a:rPr b="1" i="0" lang="en-GB" sz="1200" u="sng" cap="none" strike="noStrike">
                <a:solidFill>
                  <a:srgbClr val="7B2D6E"/>
                </a:solidFill>
                <a:latin typeface="Calibri"/>
                <a:ea typeface="Calibri"/>
                <a:cs typeface="Calibri"/>
                <a:sym typeface="Calibri"/>
              </a:rPr>
              <a:t>Devices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7"/>
          <p:cNvSpPr/>
          <p:nvPr/>
        </p:nvSpPr>
        <p:spPr>
          <a:xfrm>
            <a:off x="2697480" y="3931920"/>
            <a:ext cx="91440" cy="91440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7"/>
          <p:cNvSpPr/>
          <p:nvPr/>
        </p:nvSpPr>
        <p:spPr>
          <a:xfrm>
            <a:off x="2862072" y="3867912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GB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Mobile (Android)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7"/>
          <p:cNvSpPr/>
          <p:nvPr/>
        </p:nvSpPr>
        <p:spPr>
          <a:xfrm>
            <a:off x="2697480" y="4169664"/>
            <a:ext cx="91440" cy="91440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7"/>
          <p:cNvSpPr/>
          <p:nvPr/>
        </p:nvSpPr>
        <p:spPr>
          <a:xfrm>
            <a:off x="2862072" y="4105656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GB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Laptop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/>
          <p:nvPr/>
        </p:nvSpPr>
        <p:spPr>
          <a:xfrm>
            <a:off x="5852160" y="868680"/>
            <a:ext cx="3108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6E"/>
              </a:buClr>
              <a:buSzPts val="1200"/>
              <a:buFont typeface="Calibri"/>
              <a:buNone/>
            </a:pPr>
            <a:r>
              <a:rPr b="1" i="0" lang="en-GB" sz="1200" u="sng" cap="none" strike="noStrike">
                <a:solidFill>
                  <a:srgbClr val="7B2D6E"/>
                </a:solidFill>
                <a:latin typeface="Calibri"/>
                <a:ea typeface="Calibri"/>
                <a:cs typeface="Calibri"/>
                <a:sym typeface="Calibri"/>
              </a:rPr>
              <a:t>Goals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5852160" y="1207008"/>
            <a:ext cx="91440" cy="91440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7"/>
          <p:cNvSpPr/>
          <p:nvPr/>
        </p:nvSpPr>
        <p:spPr>
          <a:xfrm>
            <a:off x="6016752" y="1143000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GB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Quickly understand NZ-specific road rules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5852160" y="1508760"/>
            <a:ext cx="91440" cy="91440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6016752" y="1444752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GB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Drive confidently to and from work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5852160" y="1810512"/>
            <a:ext cx="91440" cy="91440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6016752" y="1746504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GB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Avoid fines or mistakes during his visa period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5852160" y="2185416"/>
            <a:ext cx="3108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6E"/>
              </a:buClr>
              <a:buSzPts val="1200"/>
              <a:buFont typeface="Calibri"/>
              <a:buNone/>
            </a:pPr>
            <a:r>
              <a:rPr b="1" i="0" lang="en-GB" sz="1200" u="sng" cap="none" strike="noStrike">
                <a:solidFill>
                  <a:srgbClr val="7B2D6E"/>
                </a:solidFill>
                <a:latin typeface="Calibri"/>
                <a:ea typeface="Calibri"/>
                <a:cs typeface="Calibri"/>
                <a:sym typeface="Calibri"/>
              </a:rPr>
              <a:t>Pain points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5852160" y="2523744"/>
            <a:ext cx="91440" cy="91440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7"/>
          <p:cNvSpPr/>
          <p:nvPr/>
        </p:nvSpPr>
        <p:spPr>
          <a:xfrm>
            <a:off x="6016752" y="2459736"/>
            <a:ext cx="2971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GB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India drives on the left, but NZ roundabout give-way rules differ significantly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5852160" y="2871216"/>
            <a:ext cx="91440" cy="91440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7"/>
          <p:cNvSpPr/>
          <p:nvPr/>
        </p:nvSpPr>
        <p:spPr>
          <a:xfrm>
            <a:off x="6016752" y="2807208"/>
            <a:ext cx="2971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GB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Unsure which rules carry over from home and which are unique to NZ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5852160" y="3218688"/>
            <a:ext cx="91440" cy="91440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6016752" y="3154680"/>
            <a:ext cx="2971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GB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 time for formal lessons due to work schedule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5852160" y="3566160"/>
            <a:ext cx="91440" cy="91440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7"/>
          <p:cNvSpPr/>
          <p:nvPr/>
        </p:nvSpPr>
        <p:spPr>
          <a:xfrm>
            <a:off x="6016752" y="3502152"/>
            <a:ext cx="2971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GB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Official NZTA resources feel dense and hard to navigate quickly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8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1AF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8"/>
          <p:cNvSpPr/>
          <p:nvPr/>
        </p:nvSpPr>
        <p:spPr>
          <a:xfrm>
            <a:off x="365750" y="139025"/>
            <a:ext cx="8142000" cy="455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lang="en-GB" sz="27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User</a:t>
            </a:r>
            <a:r>
              <a:rPr b="1" lang="en-GB" sz="2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GB" sz="27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Persona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0" y="777240"/>
            <a:ext cx="2560320" cy="58521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8"/>
          <p:cNvSpPr/>
          <p:nvPr/>
        </p:nvSpPr>
        <p:spPr>
          <a:xfrm>
            <a:off x="228600" y="914400"/>
            <a:ext cx="2103120" cy="1920240"/>
          </a:xfrm>
          <a:prstGeom prst="rect">
            <a:avLst/>
          </a:prstGeom>
          <a:solidFill>
            <a:srgbClr val="D9E8F5"/>
          </a:solidFill>
          <a:ln cap="flat" cmpd="sng" w="12700">
            <a:solidFill>
              <a:srgbClr val="AAC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8"/>
          <p:cNvSpPr/>
          <p:nvPr/>
        </p:nvSpPr>
        <p:spPr>
          <a:xfrm>
            <a:off x="228600" y="914400"/>
            <a:ext cx="210312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459"/>
              </a:buClr>
              <a:buSzPts val="4800"/>
              <a:buFont typeface="Georgia"/>
              <a:buNone/>
            </a:pPr>
            <a:r>
              <a:rPr b="1" lang="en-GB" sz="4800">
                <a:solidFill>
                  <a:srgbClr val="1B2459"/>
                </a:solidFill>
                <a:latin typeface="Georgia"/>
                <a:ea typeface="Georgia"/>
                <a:cs typeface="Georgia"/>
                <a:sym typeface="Georgia"/>
              </a:rPr>
              <a:t>SF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228600" y="2880360"/>
            <a:ext cx="2103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750"/>
              <a:buFont typeface="Calibri"/>
              <a:buNone/>
            </a:pPr>
            <a:r>
              <a:rPr i="1" lang="en-GB" sz="7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Generated by AI model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91440" y="310896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459"/>
              </a:buClr>
              <a:buSzPts val="2000"/>
              <a:buFont typeface="Georgia"/>
              <a:buNone/>
            </a:pPr>
            <a:r>
              <a:rPr b="1" lang="en-GB" sz="2000">
                <a:solidFill>
                  <a:srgbClr val="1B2459"/>
                </a:solidFill>
                <a:latin typeface="Georgia"/>
                <a:ea typeface="Georgia"/>
                <a:cs typeface="Georgia"/>
                <a:sym typeface="Georgia"/>
              </a:rPr>
              <a:t>Sofia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457200" y="3456432"/>
            <a:ext cx="1645920" cy="36576"/>
          </a:xfrm>
          <a:prstGeom prst="rect">
            <a:avLst/>
          </a:prstGeom>
          <a:solidFill>
            <a:srgbClr val="E86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8"/>
          <p:cNvSpPr/>
          <p:nvPr/>
        </p:nvSpPr>
        <p:spPr>
          <a:xfrm>
            <a:off x="137160" y="3547872"/>
            <a:ext cx="22860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i="1" lang="en-GB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"Everything feels reversed — I keep drifting to the right side of the road."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2697480" y="868680"/>
            <a:ext cx="29260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6E"/>
              </a:buClr>
              <a:buSzPts val="1200"/>
              <a:buFont typeface="Calibri"/>
              <a:buNone/>
            </a:pPr>
            <a:r>
              <a:rPr b="1" lang="en-GB" sz="1200" u="sng">
                <a:solidFill>
                  <a:srgbClr val="7B2D6E"/>
                </a:solidFill>
                <a:latin typeface="Calibri"/>
                <a:ea typeface="Calibri"/>
                <a:cs typeface="Calibri"/>
                <a:sym typeface="Calibri"/>
              </a:rPr>
              <a:t>Demographic info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2697480" y="1207008"/>
            <a:ext cx="91440" cy="91440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8"/>
          <p:cNvSpPr/>
          <p:nvPr/>
        </p:nvSpPr>
        <p:spPr>
          <a:xfrm>
            <a:off x="2862072" y="114300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GB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26 years old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2697480" y="1444752"/>
            <a:ext cx="91440" cy="91440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8"/>
          <p:cNvSpPr/>
          <p:nvPr/>
        </p:nvSpPr>
        <p:spPr>
          <a:xfrm>
            <a:off x="2862072" y="1380744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GB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Graphic Designer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2697480" y="1682496"/>
            <a:ext cx="91440" cy="91440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8"/>
          <p:cNvSpPr/>
          <p:nvPr/>
        </p:nvSpPr>
        <p:spPr>
          <a:xfrm>
            <a:off x="2862072" y="161848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GB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Working Holiday Visa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2697480" y="1920240"/>
            <a:ext cx="91440" cy="91440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8"/>
          <p:cNvSpPr/>
          <p:nvPr/>
        </p:nvSpPr>
        <p:spPr>
          <a:xfrm>
            <a:off x="2862072" y="1856232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GB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Wellington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2697480" y="2231136"/>
            <a:ext cx="29260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6E"/>
              </a:buClr>
              <a:buSzPts val="1200"/>
              <a:buFont typeface="Calibri"/>
              <a:buNone/>
            </a:pPr>
            <a:r>
              <a:rPr b="1" lang="en-GB" sz="1200" u="sng">
                <a:solidFill>
                  <a:srgbClr val="7B2D6E"/>
                </a:solidFill>
                <a:latin typeface="Calibri"/>
                <a:ea typeface="Calibri"/>
                <a:cs typeface="Calibri"/>
                <a:sym typeface="Calibri"/>
              </a:rPr>
              <a:t>Personalities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2697480" y="2569464"/>
            <a:ext cx="91440" cy="91440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8"/>
          <p:cNvSpPr/>
          <p:nvPr/>
        </p:nvSpPr>
        <p:spPr>
          <a:xfrm>
            <a:off x="2862072" y="2505456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GB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Adventurous but safety-conscious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2697480" y="2807208"/>
            <a:ext cx="91440" cy="91440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8"/>
          <p:cNvSpPr/>
          <p:nvPr/>
        </p:nvSpPr>
        <p:spPr>
          <a:xfrm>
            <a:off x="2862072" y="274320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GB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Visual learner — prefers diagrams over text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2697480" y="3044952"/>
            <a:ext cx="91440" cy="91440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8"/>
          <p:cNvSpPr/>
          <p:nvPr/>
        </p:nvSpPr>
        <p:spPr>
          <a:xfrm>
            <a:off x="2862072" y="2980944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GB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Easily overwhelmed by large amounts of written rules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2697480" y="3282696"/>
            <a:ext cx="91440" cy="91440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8"/>
          <p:cNvSpPr/>
          <p:nvPr/>
        </p:nvSpPr>
        <p:spPr>
          <a:xfrm>
            <a:off x="2862072" y="321868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GB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Motivated by real-world application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8"/>
          <p:cNvSpPr/>
          <p:nvPr/>
        </p:nvSpPr>
        <p:spPr>
          <a:xfrm>
            <a:off x="2697480" y="3593592"/>
            <a:ext cx="29260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6E"/>
              </a:buClr>
              <a:buSzPts val="1200"/>
              <a:buFont typeface="Calibri"/>
              <a:buNone/>
            </a:pPr>
            <a:r>
              <a:rPr b="1" lang="en-GB" sz="1200" u="sng">
                <a:solidFill>
                  <a:srgbClr val="7B2D6E"/>
                </a:solidFill>
                <a:latin typeface="Calibri"/>
                <a:ea typeface="Calibri"/>
                <a:cs typeface="Calibri"/>
                <a:sym typeface="Calibri"/>
              </a:rPr>
              <a:t>Devices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8"/>
          <p:cNvSpPr/>
          <p:nvPr/>
        </p:nvSpPr>
        <p:spPr>
          <a:xfrm>
            <a:off x="2697480" y="3931920"/>
            <a:ext cx="91440" cy="91440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8"/>
          <p:cNvSpPr/>
          <p:nvPr/>
        </p:nvSpPr>
        <p:spPr>
          <a:xfrm>
            <a:off x="2862072" y="3867912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GB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Mobile (iPhone)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2697480" y="4169664"/>
            <a:ext cx="91440" cy="91440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8"/>
          <p:cNvSpPr/>
          <p:nvPr/>
        </p:nvSpPr>
        <p:spPr>
          <a:xfrm>
            <a:off x="2862072" y="4105656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GB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Tablet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8"/>
          <p:cNvSpPr/>
          <p:nvPr/>
        </p:nvSpPr>
        <p:spPr>
          <a:xfrm>
            <a:off x="5852160" y="868680"/>
            <a:ext cx="3108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6E"/>
              </a:buClr>
              <a:buSzPts val="1200"/>
              <a:buFont typeface="Calibri"/>
              <a:buNone/>
            </a:pPr>
            <a:r>
              <a:rPr b="1" lang="en-GB" sz="1200" u="sng">
                <a:solidFill>
                  <a:srgbClr val="7B2D6E"/>
                </a:solidFill>
                <a:latin typeface="Calibri"/>
                <a:ea typeface="Calibri"/>
                <a:cs typeface="Calibri"/>
                <a:sym typeface="Calibri"/>
              </a:rPr>
              <a:t>Goals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5852160" y="1207008"/>
            <a:ext cx="91440" cy="91440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8"/>
          <p:cNvSpPr/>
          <p:nvPr/>
        </p:nvSpPr>
        <p:spPr>
          <a:xfrm>
            <a:off x="6016752" y="1143000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GB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Safely rent a car and explore NZ on road trips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5852160" y="1508760"/>
            <a:ext cx="91440" cy="91440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8"/>
          <p:cNvSpPr/>
          <p:nvPr/>
        </p:nvSpPr>
        <p:spPr>
          <a:xfrm>
            <a:off x="6016752" y="1444752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GB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Build confidence driving on the left side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8"/>
          <p:cNvSpPr/>
          <p:nvPr/>
        </p:nvSpPr>
        <p:spPr>
          <a:xfrm>
            <a:off x="5852160" y="1810512"/>
            <a:ext cx="91440" cy="91440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8"/>
          <p:cNvSpPr/>
          <p:nvPr/>
        </p:nvSpPr>
        <p:spPr>
          <a:xfrm>
            <a:off x="6016752" y="1746504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GB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Understand NZ road signs and speed limits quickly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5852160" y="2185416"/>
            <a:ext cx="3108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6E"/>
              </a:buClr>
              <a:buSzPts val="1200"/>
              <a:buFont typeface="Calibri"/>
              <a:buNone/>
            </a:pPr>
            <a:r>
              <a:rPr b="1" lang="en-GB" sz="1200" u="sng">
                <a:solidFill>
                  <a:srgbClr val="7B2D6E"/>
                </a:solidFill>
                <a:latin typeface="Calibri"/>
                <a:ea typeface="Calibri"/>
                <a:cs typeface="Calibri"/>
                <a:sym typeface="Calibri"/>
              </a:rPr>
              <a:t>Pain points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5852160" y="2523744"/>
            <a:ext cx="91440" cy="91440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8"/>
          <p:cNvSpPr/>
          <p:nvPr/>
        </p:nvSpPr>
        <p:spPr>
          <a:xfrm>
            <a:off x="6016752" y="2459736"/>
            <a:ext cx="2971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GB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US drives on the right — switching sides feels unnatural and stressful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5852160" y="2871216"/>
            <a:ext cx="91440" cy="91440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8"/>
          <p:cNvSpPr/>
          <p:nvPr/>
        </p:nvSpPr>
        <p:spPr>
          <a:xfrm>
            <a:off x="6016752" y="2807208"/>
            <a:ext cx="2971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GB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Struggles to find quick, visual summaries of NZ rules in one place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5852160" y="3218688"/>
            <a:ext cx="91440" cy="91440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8"/>
          <p:cNvSpPr/>
          <p:nvPr/>
        </p:nvSpPr>
        <p:spPr>
          <a:xfrm>
            <a:off x="6016752" y="3154680"/>
            <a:ext cx="2971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GB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 local friends or family to guide her through differences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8"/>
          <p:cNvSpPr/>
          <p:nvPr/>
        </p:nvSpPr>
        <p:spPr>
          <a:xfrm>
            <a:off x="5852160" y="3566160"/>
            <a:ext cx="91440" cy="91440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8"/>
          <p:cNvSpPr/>
          <p:nvPr/>
        </p:nvSpPr>
        <p:spPr>
          <a:xfrm>
            <a:off x="6016752" y="3502152"/>
            <a:ext cx="2971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GB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Worried about making an illegal move and affecting her visa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" name="Google Shape;20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877824"/>
            <a:ext cx="2133600" cy="19568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9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1AF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9"/>
          <p:cNvSpPr/>
          <p:nvPr/>
        </p:nvSpPr>
        <p:spPr>
          <a:xfrm>
            <a:off x="365750" y="109725"/>
            <a:ext cx="8002800" cy="402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lang="en-GB" sz="27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Real User</a:t>
            </a:r>
            <a:r>
              <a:rPr b="1" lang="en-GB" sz="2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GB" sz="27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Feedback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9"/>
          <p:cNvSpPr/>
          <p:nvPr/>
        </p:nvSpPr>
        <p:spPr>
          <a:xfrm>
            <a:off x="365750" y="530250"/>
            <a:ext cx="82296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i="1" lang="en-GB"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Interview findings from two participants  —  School Run · Aotearoa, Version C: Mission Map</a:t>
            </a:r>
            <a:endParaRPr sz="1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9"/>
          <p:cNvSpPr/>
          <p:nvPr/>
        </p:nvSpPr>
        <p:spPr>
          <a:xfrm>
            <a:off x="228600" y="914400"/>
            <a:ext cx="4114800" cy="457200"/>
          </a:xfrm>
          <a:prstGeom prst="rect">
            <a:avLst/>
          </a:prstGeom>
          <a:solidFill>
            <a:srgbClr val="1B24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5" name="Google Shape;21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96012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9"/>
          <p:cNvSpPr/>
          <p:nvPr/>
        </p:nvSpPr>
        <p:spPr>
          <a:xfrm>
            <a:off x="758952" y="987552"/>
            <a:ext cx="3474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GB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Sarath  ·  30  ·  India  ·  Open Work Visa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9"/>
          <p:cNvSpPr/>
          <p:nvPr/>
        </p:nvSpPr>
        <p:spPr>
          <a:xfrm>
            <a:off x="758952" y="1152144"/>
            <a:ext cx="3474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GB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Driven in NZ: Yes — on foreign licence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9"/>
          <p:cNvSpPr/>
          <p:nvPr/>
        </p:nvSpPr>
        <p:spPr>
          <a:xfrm>
            <a:off x="228600" y="1444752"/>
            <a:ext cx="4114800" cy="475488"/>
          </a:xfrm>
          <a:prstGeom prst="rect">
            <a:avLst/>
          </a:prstGeom>
          <a:solidFill>
            <a:srgbClr val="FEF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9"/>
          <p:cNvSpPr/>
          <p:nvPr/>
        </p:nvSpPr>
        <p:spPr>
          <a:xfrm>
            <a:off x="365760" y="1481328"/>
            <a:ext cx="38404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i="1" lang="en-GB" sz="9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"Official resources read like textbooks. This gave me a risk-free environment to practice the logic of the road."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9"/>
          <p:cNvSpPr/>
          <p:nvPr/>
        </p:nvSpPr>
        <p:spPr>
          <a:xfrm>
            <a:off x="228600" y="1993392"/>
            <a:ext cx="256032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9"/>
          <p:cNvSpPr/>
          <p:nvPr/>
        </p:nvSpPr>
        <p:spPr>
          <a:xfrm>
            <a:off x="228600" y="1993392"/>
            <a:ext cx="256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GB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9"/>
          <p:cNvSpPr/>
          <p:nvPr/>
        </p:nvSpPr>
        <p:spPr>
          <a:xfrm>
            <a:off x="521208" y="2020824"/>
            <a:ext cx="3794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lang="en-GB" sz="9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Roundabouts confirmed as #1 fear — validated persona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9"/>
          <p:cNvSpPr/>
          <p:nvPr/>
        </p:nvSpPr>
        <p:spPr>
          <a:xfrm>
            <a:off x="228600" y="2313432"/>
            <a:ext cx="256032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9"/>
          <p:cNvSpPr/>
          <p:nvPr/>
        </p:nvSpPr>
        <p:spPr>
          <a:xfrm>
            <a:off x="228600" y="2313432"/>
            <a:ext cx="256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GB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9"/>
          <p:cNvSpPr/>
          <p:nvPr/>
        </p:nvSpPr>
        <p:spPr>
          <a:xfrm>
            <a:off x="521208" y="2340864"/>
            <a:ext cx="3794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lang="en-GB" sz="9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School zone + T-intersection rules clicked through gameplay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9"/>
          <p:cNvSpPr/>
          <p:nvPr/>
        </p:nvSpPr>
        <p:spPr>
          <a:xfrm>
            <a:off x="228600" y="2633472"/>
            <a:ext cx="256032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9"/>
          <p:cNvSpPr/>
          <p:nvPr/>
        </p:nvSpPr>
        <p:spPr>
          <a:xfrm>
            <a:off x="228600" y="2633472"/>
            <a:ext cx="256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GB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9"/>
          <p:cNvSpPr/>
          <p:nvPr/>
        </p:nvSpPr>
        <p:spPr>
          <a:xfrm>
            <a:off x="521208" y="2660904"/>
            <a:ext cx="3794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lang="en-GB" sz="9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Would use in first week — before getting behind the wheel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9"/>
          <p:cNvSpPr/>
          <p:nvPr/>
        </p:nvSpPr>
        <p:spPr>
          <a:xfrm>
            <a:off x="228600" y="2953512"/>
            <a:ext cx="256032" cy="274320"/>
          </a:xfrm>
          <a:prstGeom prst="rect">
            <a:avLst/>
          </a:prstGeom>
          <a:solidFill>
            <a:srgbClr val="E86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9"/>
          <p:cNvSpPr/>
          <p:nvPr/>
        </p:nvSpPr>
        <p:spPr>
          <a:xfrm>
            <a:off x="228600" y="2953512"/>
            <a:ext cx="256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GB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⚠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9"/>
          <p:cNvSpPr/>
          <p:nvPr/>
        </p:nvSpPr>
        <p:spPr>
          <a:xfrm>
            <a:off x="521208" y="2980944"/>
            <a:ext cx="3794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lang="en-GB" sz="9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HUD density overwhelming for detail-oriented users initially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228600" y="3273552"/>
            <a:ext cx="256032" cy="274320"/>
          </a:xfrm>
          <a:prstGeom prst="rect">
            <a:avLst/>
          </a:prstGeom>
          <a:solidFill>
            <a:srgbClr val="1B24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9"/>
          <p:cNvSpPr/>
          <p:nvPr/>
        </p:nvSpPr>
        <p:spPr>
          <a:xfrm>
            <a:off x="228600" y="3273552"/>
            <a:ext cx="256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GB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＋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9"/>
          <p:cNvSpPr/>
          <p:nvPr/>
        </p:nvSpPr>
        <p:spPr>
          <a:xfrm>
            <a:off x="521208" y="3300984"/>
            <a:ext cx="3794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lang="en-GB" sz="9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Requested: multi-lane roundabout mission module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9"/>
          <p:cNvSpPr/>
          <p:nvPr/>
        </p:nvSpPr>
        <p:spPr>
          <a:xfrm>
            <a:off x="228600" y="3685032"/>
            <a:ext cx="4114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i="1" lang="en-GB" sz="8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Ratings  (1=Strongly Disagree  →  5=Strongly Agree)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9"/>
          <p:cNvSpPr/>
          <p:nvPr/>
        </p:nvSpPr>
        <p:spPr>
          <a:xfrm>
            <a:off x="228600" y="3913632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GB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Easy to play: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9"/>
          <p:cNvSpPr/>
          <p:nvPr/>
        </p:nvSpPr>
        <p:spPr>
          <a:xfrm>
            <a:off x="1801368" y="3950208"/>
            <a:ext cx="182880" cy="146304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9"/>
          <p:cNvSpPr/>
          <p:nvPr/>
        </p:nvSpPr>
        <p:spPr>
          <a:xfrm>
            <a:off x="2057400" y="3950208"/>
            <a:ext cx="182880" cy="146304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9"/>
          <p:cNvSpPr/>
          <p:nvPr/>
        </p:nvSpPr>
        <p:spPr>
          <a:xfrm>
            <a:off x="2313432" y="3950208"/>
            <a:ext cx="182880" cy="146304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9"/>
          <p:cNvSpPr/>
          <p:nvPr/>
        </p:nvSpPr>
        <p:spPr>
          <a:xfrm>
            <a:off x="2569464" y="3950208"/>
            <a:ext cx="182880" cy="146304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9"/>
          <p:cNvSpPr/>
          <p:nvPr/>
        </p:nvSpPr>
        <p:spPr>
          <a:xfrm>
            <a:off x="2825496" y="3950208"/>
            <a:ext cx="182880" cy="14630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9"/>
          <p:cNvSpPr/>
          <p:nvPr/>
        </p:nvSpPr>
        <p:spPr>
          <a:xfrm>
            <a:off x="3154680" y="391363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51A"/>
              </a:buClr>
              <a:buSzPts val="900"/>
              <a:buFont typeface="Calibri"/>
              <a:buNone/>
            </a:pPr>
            <a:r>
              <a:rPr b="1" lang="en-GB" sz="900">
                <a:solidFill>
                  <a:srgbClr val="E8651A"/>
                </a:solidFill>
                <a:latin typeface="Calibri"/>
                <a:ea typeface="Calibri"/>
                <a:cs typeface="Calibri"/>
                <a:sym typeface="Calibri"/>
              </a:rPr>
              <a:t>4/5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9"/>
          <p:cNvSpPr/>
          <p:nvPr/>
        </p:nvSpPr>
        <p:spPr>
          <a:xfrm>
            <a:off x="228600" y="4142232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GB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NZ rules clear: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9"/>
          <p:cNvSpPr/>
          <p:nvPr/>
        </p:nvSpPr>
        <p:spPr>
          <a:xfrm>
            <a:off x="1801368" y="4178808"/>
            <a:ext cx="182880" cy="146304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9"/>
          <p:cNvSpPr/>
          <p:nvPr/>
        </p:nvSpPr>
        <p:spPr>
          <a:xfrm>
            <a:off x="2057400" y="4178808"/>
            <a:ext cx="182880" cy="146304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9"/>
          <p:cNvSpPr/>
          <p:nvPr/>
        </p:nvSpPr>
        <p:spPr>
          <a:xfrm>
            <a:off x="2313432" y="4178808"/>
            <a:ext cx="182880" cy="146304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9"/>
          <p:cNvSpPr/>
          <p:nvPr/>
        </p:nvSpPr>
        <p:spPr>
          <a:xfrm>
            <a:off x="2569464" y="4178808"/>
            <a:ext cx="182880" cy="146304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9"/>
          <p:cNvSpPr/>
          <p:nvPr/>
        </p:nvSpPr>
        <p:spPr>
          <a:xfrm>
            <a:off x="2825496" y="4178808"/>
            <a:ext cx="182880" cy="146304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9"/>
          <p:cNvSpPr/>
          <p:nvPr/>
        </p:nvSpPr>
        <p:spPr>
          <a:xfrm>
            <a:off x="3154680" y="414223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51A"/>
              </a:buClr>
              <a:buSzPts val="900"/>
              <a:buFont typeface="Calibri"/>
              <a:buNone/>
            </a:pPr>
            <a:r>
              <a:rPr b="1" lang="en-GB" sz="900">
                <a:solidFill>
                  <a:srgbClr val="E8651A"/>
                </a:solidFill>
                <a:latin typeface="Calibri"/>
                <a:ea typeface="Calibri"/>
                <a:cs typeface="Calibri"/>
                <a:sym typeface="Calibri"/>
              </a:rPr>
              <a:t>5/5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9"/>
          <p:cNvSpPr/>
          <p:nvPr/>
        </p:nvSpPr>
        <p:spPr>
          <a:xfrm>
            <a:off x="228600" y="4370832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GB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HUD helpful: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9"/>
          <p:cNvSpPr/>
          <p:nvPr/>
        </p:nvSpPr>
        <p:spPr>
          <a:xfrm>
            <a:off x="1801368" y="4407408"/>
            <a:ext cx="182880" cy="146304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9"/>
          <p:cNvSpPr/>
          <p:nvPr/>
        </p:nvSpPr>
        <p:spPr>
          <a:xfrm>
            <a:off x="2057400" y="4407408"/>
            <a:ext cx="182880" cy="146304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9"/>
          <p:cNvSpPr/>
          <p:nvPr/>
        </p:nvSpPr>
        <p:spPr>
          <a:xfrm>
            <a:off x="2313432" y="4407408"/>
            <a:ext cx="182880" cy="146304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9"/>
          <p:cNvSpPr/>
          <p:nvPr/>
        </p:nvSpPr>
        <p:spPr>
          <a:xfrm>
            <a:off x="2569464" y="4407408"/>
            <a:ext cx="182880" cy="146304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9"/>
          <p:cNvSpPr/>
          <p:nvPr/>
        </p:nvSpPr>
        <p:spPr>
          <a:xfrm>
            <a:off x="2825496" y="4407408"/>
            <a:ext cx="182880" cy="14630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9"/>
          <p:cNvSpPr/>
          <p:nvPr/>
        </p:nvSpPr>
        <p:spPr>
          <a:xfrm>
            <a:off x="3154680" y="437083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51A"/>
              </a:buClr>
              <a:buSzPts val="900"/>
              <a:buFont typeface="Calibri"/>
              <a:buNone/>
            </a:pPr>
            <a:r>
              <a:rPr b="1" lang="en-GB" sz="900">
                <a:solidFill>
                  <a:srgbClr val="E8651A"/>
                </a:solidFill>
                <a:latin typeface="Calibri"/>
                <a:ea typeface="Calibri"/>
                <a:cs typeface="Calibri"/>
                <a:sym typeface="Calibri"/>
              </a:rPr>
              <a:t>4/5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9"/>
          <p:cNvSpPr/>
          <p:nvPr/>
        </p:nvSpPr>
        <p:spPr>
          <a:xfrm>
            <a:off x="228600" y="4599432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GB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Would use again: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9"/>
          <p:cNvSpPr/>
          <p:nvPr/>
        </p:nvSpPr>
        <p:spPr>
          <a:xfrm>
            <a:off x="1801368" y="4636008"/>
            <a:ext cx="182880" cy="146304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9"/>
          <p:cNvSpPr/>
          <p:nvPr/>
        </p:nvSpPr>
        <p:spPr>
          <a:xfrm>
            <a:off x="2057400" y="4636008"/>
            <a:ext cx="182880" cy="146304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9"/>
          <p:cNvSpPr/>
          <p:nvPr/>
        </p:nvSpPr>
        <p:spPr>
          <a:xfrm>
            <a:off x="2313432" y="4636008"/>
            <a:ext cx="182880" cy="146304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9"/>
          <p:cNvSpPr/>
          <p:nvPr/>
        </p:nvSpPr>
        <p:spPr>
          <a:xfrm>
            <a:off x="2569464" y="4636008"/>
            <a:ext cx="182880" cy="146304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9"/>
          <p:cNvSpPr/>
          <p:nvPr/>
        </p:nvSpPr>
        <p:spPr>
          <a:xfrm>
            <a:off x="2825496" y="4636008"/>
            <a:ext cx="182880" cy="146304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9"/>
          <p:cNvSpPr/>
          <p:nvPr/>
        </p:nvSpPr>
        <p:spPr>
          <a:xfrm>
            <a:off x="3154680" y="459943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51A"/>
              </a:buClr>
              <a:buSzPts val="900"/>
              <a:buFont typeface="Calibri"/>
              <a:buNone/>
            </a:pPr>
            <a:r>
              <a:rPr b="1" lang="en-GB" sz="900">
                <a:solidFill>
                  <a:srgbClr val="E8651A"/>
                </a:solidFill>
                <a:latin typeface="Calibri"/>
                <a:ea typeface="Calibri"/>
                <a:cs typeface="Calibri"/>
                <a:sym typeface="Calibri"/>
              </a:rPr>
              <a:t>5/5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9"/>
          <p:cNvSpPr/>
          <p:nvPr/>
        </p:nvSpPr>
        <p:spPr>
          <a:xfrm>
            <a:off x="228600" y="4828032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GB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Learned something: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9"/>
          <p:cNvSpPr/>
          <p:nvPr/>
        </p:nvSpPr>
        <p:spPr>
          <a:xfrm>
            <a:off x="1801368" y="4864608"/>
            <a:ext cx="182880" cy="146304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9"/>
          <p:cNvSpPr/>
          <p:nvPr/>
        </p:nvSpPr>
        <p:spPr>
          <a:xfrm>
            <a:off x="2057400" y="4864608"/>
            <a:ext cx="182880" cy="146304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9"/>
          <p:cNvSpPr/>
          <p:nvPr/>
        </p:nvSpPr>
        <p:spPr>
          <a:xfrm>
            <a:off x="2313432" y="4864608"/>
            <a:ext cx="182880" cy="146304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9"/>
          <p:cNvSpPr/>
          <p:nvPr/>
        </p:nvSpPr>
        <p:spPr>
          <a:xfrm>
            <a:off x="2569464" y="4864608"/>
            <a:ext cx="182880" cy="146304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9"/>
          <p:cNvSpPr/>
          <p:nvPr/>
        </p:nvSpPr>
        <p:spPr>
          <a:xfrm>
            <a:off x="2825496" y="4864608"/>
            <a:ext cx="182880" cy="146304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9"/>
          <p:cNvSpPr/>
          <p:nvPr/>
        </p:nvSpPr>
        <p:spPr>
          <a:xfrm>
            <a:off x="3154680" y="482803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51A"/>
              </a:buClr>
              <a:buSzPts val="900"/>
              <a:buFont typeface="Calibri"/>
              <a:buNone/>
            </a:pPr>
            <a:r>
              <a:rPr b="1" lang="en-GB" sz="900">
                <a:solidFill>
                  <a:srgbClr val="E8651A"/>
                </a:solidFill>
                <a:latin typeface="Calibri"/>
                <a:ea typeface="Calibri"/>
                <a:cs typeface="Calibri"/>
                <a:sym typeface="Calibri"/>
              </a:rPr>
              <a:t>5/5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9"/>
          <p:cNvSpPr/>
          <p:nvPr/>
        </p:nvSpPr>
        <p:spPr>
          <a:xfrm>
            <a:off x="4800600" y="914400"/>
            <a:ext cx="4114800" cy="457200"/>
          </a:xfrm>
          <a:prstGeom prst="rect">
            <a:avLst/>
          </a:prstGeom>
          <a:solidFill>
            <a:srgbClr val="7B2D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9"/>
          <p:cNvSpPr/>
          <p:nvPr/>
        </p:nvSpPr>
        <p:spPr>
          <a:xfrm>
            <a:off x="4892040" y="960120"/>
            <a:ext cx="347472" cy="347472"/>
          </a:xfrm>
          <a:prstGeom prst="ellipse">
            <a:avLst/>
          </a:prstGeom>
          <a:solidFill>
            <a:srgbClr val="D9C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9"/>
          <p:cNvSpPr/>
          <p:nvPr/>
        </p:nvSpPr>
        <p:spPr>
          <a:xfrm>
            <a:off x="4892040" y="96012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orgia"/>
              <a:buNone/>
            </a:pPr>
            <a:r>
              <a:rPr b="1" lang="en-GB" sz="13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SF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9"/>
          <p:cNvSpPr/>
          <p:nvPr/>
        </p:nvSpPr>
        <p:spPr>
          <a:xfrm>
            <a:off x="5330952" y="987552"/>
            <a:ext cx="3474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GB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Sofia  ·  26  ·  USA  ·  Working Holiday Visa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9"/>
          <p:cNvSpPr/>
          <p:nvPr/>
        </p:nvSpPr>
        <p:spPr>
          <a:xfrm>
            <a:off x="5330952" y="1152144"/>
            <a:ext cx="3474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B5CE"/>
              </a:buClr>
              <a:buSzPts val="900"/>
              <a:buFont typeface="Calibri"/>
              <a:buNone/>
            </a:pPr>
            <a:r>
              <a:rPr lang="en-GB" sz="900">
                <a:solidFill>
                  <a:srgbClr val="C4B5CE"/>
                </a:solidFill>
                <a:latin typeface="Calibri"/>
                <a:ea typeface="Calibri"/>
                <a:cs typeface="Calibri"/>
                <a:sym typeface="Calibri"/>
              </a:rPr>
              <a:t>Driven in NZ: Not yet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9"/>
          <p:cNvSpPr/>
          <p:nvPr/>
        </p:nvSpPr>
        <p:spPr>
          <a:xfrm>
            <a:off x="4800600" y="1444752"/>
            <a:ext cx="4114800" cy="475488"/>
          </a:xfrm>
          <a:prstGeom prst="rect">
            <a:avLst/>
          </a:prstGeom>
          <a:solidFill>
            <a:srgbClr val="F5EF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9"/>
          <p:cNvSpPr/>
          <p:nvPr/>
        </p:nvSpPr>
        <p:spPr>
          <a:xfrm>
            <a:off x="4937760" y="1481328"/>
            <a:ext cx="38404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i="1" lang="en-GB" sz="9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"Everything is reversed here. This game let my brain practice looking at lanes from the left side before renting a car."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9"/>
          <p:cNvSpPr/>
          <p:nvPr/>
        </p:nvSpPr>
        <p:spPr>
          <a:xfrm>
            <a:off x="4800600" y="1993392"/>
            <a:ext cx="256032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9"/>
          <p:cNvSpPr/>
          <p:nvPr/>
        </p:nvSpPr>
        <p:spPr>
          <a:xfrm>
            <a:off x="4800600" y="1993392"/>
            <a:ext cx="256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GB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9"/>
          <p:cNvSpPr/>
          <p:nvPr/>
        </p:nvSpPr>
        <p:spPr>
          <a:xfrm>
            <a:off x="5093208" y="2020824"/>
            <a:ext cx="3794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lang="en-GB" sz="9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Left-side driving muscle memory addressed through gameplay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9"/>
          <p:cNvSpPr/>
          <p:nvPr/>
        </p:nvSpPr>
        <p:spPr>
          <a:xfrm>
            <a:off x="4800600" y="2313432"/>
            <a:ext cx="256032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9"/>
          <p:cNvSpPr/>
          <p:nvPr/>
        </p:nvSpPr>
        <p:spPr>
          <a:xfrm>
            <a:off x="4800600" y="2313432"/>
            <a:ext cx="256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GB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9"/>
          <p:cNvSpPr/>
          <p:nvPr/>
        </p:nvSpPr>
        <p:spPr>
          <a:xfrm>
            <a:off x="5093208" y="2340864"/>
            <a:ext cx="3794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lang="en-GB" sz="9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Would use BEFORE arriving in NZ — travel anxiety use case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9"/>
          <p:cNvSpPr/>
          <p:nvPr/>
        </p:nvSpPr>
        <p:spPr>
          <a:xfrm>
            <a:off x="4800600" y="2633472"/>
            <a:ext cx="256032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9"/>
          <p:cNvSpPr/>
          <p:nvPr/>
        </p:nvSpPr>
        <p:spPr>
          <a:xfrm>
            <a:off x="4800600" y="2633472"/>
            <a:ext cx="256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GB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9"/>
          <p:cNvSpPr/>
          <p:nvPr/>
        </p:nvSpPr>
        <p:spPr>
          <a:xfrm>
            <a:off x="5093208" y="2660904"/>
            <a:ext cx="3794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lang="en-GB" sz="9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Validated: visual learner, overwhelmed by text-heavy resources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9"/>
          <p:cNvSpPr/>
          <p:nvPr/>
        </p:nvSpPr>
        <p:spPr>
          <a:xfrm>
            <a:off x="4800600" y="2953512"/>
            <a:ext cx="256032" cy="274320"/>
          </a:xfrm>
          <a:prstGeom prst="rect">
            <a:avLst/>
          </a:prstGeom>
          <a:solidFill>
            <a:srgbClr val="E86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9"/>
          <p:cNvSpPr/>
          <p:nvPr/>
        </p:nvSpPr>
        <p:spPr>
          <a:xfrm>
            <a:off x="4800600" y="2953512"/>
            <a:ext cx="256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GB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⚠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9"/>
          <p:cNvSpPr/>
          <p:nvPr/>
        </p:nvSpPr>
        <p:spPr>
          <a:xfrm>
            <a:off x="5093208" y="2980944"/>
            <a:ext cx="3794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lang="en-GB" sz="9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Keyboard-only controls are a barrier — uses phone/tablet only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9"/>
          <p:cNvSpPr/>
          <p:nvPr/>
        </p:nvSpPr>
        <p:spPr>
          <a:xfrm>
            <a:off x="4800600" y="3273552"/>
            <a:ext cx="256032" cy="274320"/>
          </a:xfrm>
          <a:prstGeom prst="rect">
            <a:avLst/>
          </a:prstGeom>
          <a:solidFill>
            <a:srgbClr val="1B24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9"/>
          <p:cNvSpPr/>
          <p:nvPr/>
        </p:nvSpPr>
        <p:spPr>
          <a:xfrm>
            <a:off x="4800600" y="3273552"/>
            <a:ext cx="256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GB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＋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9"/>
          <p:cNvSpPr/>
          <p:nvPr/>
        </p:nvSpPr>
        <p:spPr>
          <a:xfrm>
            <a:off x="5093208" y="3300984"/>
            <a:ext cx="3794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lang="en-GB" sz="9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Requested: mobile/touch support + 'Switch Sides' visual guide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9"/>
          <p:cNvSpPr/>
          <p:nvPr/>
        </p:nvSpPr>
        <p:spPr>
          <a:xfrm>
            <a:off x="4800600" y="3685032"/>
            <a:ext cx="4114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i="1" lang="en-GB" sz="8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Ratings  (1=Strongly Disagree  →  5=Strongly Agree)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9"/>
          <p:cNvSpPr/>
          <p:nvPr/>
        </p:nvSpPr>
        <p:spPr>
          <a:xfrm>
            <a:off x="4800600" y="3913632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GB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Easy to play: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9"/>
          <p:cNvSpPr/>
          <p:nvPr/>
        </p:nvSpPr>
        <p:spPr>
          <a:xfrm>
            <a:off x="6373368" y="3950208"/>
            <a:ext cx="182880" cy="146304"/>
          </a:xfrm>
          <a:prstGeom prst="ellipse">
            <a:avLst/>
          </a:prstGeom>
          <a:solidFill>
            <a:srgbClr val="7B2D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9"/>
          <p:cNvSpPr/>
          <p:nvPr/>
        </p:nvSpPr>
        <p:spPr>
          <a:xfrm>
            <a:off x="6629400" y="3950208"/>
            <a:ext cx="182880" cy="146304"/>
          </a:xfrm>
          <a:prstGeom prst="ellipse">
            <a:avLst/>
          </a:prstGeom>
          <a:solidFill>
            <a:srgbClr val="7B2D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9"/>
          <p:cNvSpPr/>
          <p:nvPr/>
        </p:nvSpPr>
        <p:spPr>
          <a:xfrm>
            <a:off x="6885432" y="3950208"/>
            <a:ext cx="182880" cy="146304"/>
          </a:xfrm>
          <a:prstGeom prst="ellipse">
            <a:avLst/>
          </a:prstGeom>
          <a:solidFill>
            <a:srgbClr val="7B2D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9"/>
          <p:cNvSpPr/>
          <p:nvPr/>
        </p:nvSpPr>
        <p:spPr>
          <a:xfrm>
            <a:off x="7141464" y="3950208"/>
            <a:ext cx="182880" cy="14630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9"/>
          <p:cNvSpPr/>
          <p:nvPr/>
        </p:nvSpPr>
        <p:spPr>
          <a:xfrm>
            <a:off x="7397496" y="3950208"/>
            <a:ext cx="182880" cy="14630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9"/>
          <p:cNvSpPr/>
          <p:nvPr/>
        </p:nvSpPr>
        <p:spPr>
          <a:xfrm>
            <a:off x="7726680" y="391363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6E"/>
              </a:buClr>
              <a:buSzPts val="900"/>
              <a:buFont typeface="Calibri"/>
              <a:buNone/>
            </a:pPr>
            <a:r>
              <a:rPr b="1" lang="en-GB" sz="900">
                <a:solidFill>
                  <a:srgbClr val="7B2D6E"/>
                </a:solidFill>
                <a:latin typeface="Calibri"/>
                <a:ea typeface="Calibri"/>
                <a:cs typeface="Calibri"/>
                <a:sym typeface="Calibri"/>
              </a:rPr>
              <a:t>3/5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9"/>
          <p:cNvSpPr/>
          <p:nvPr/>
        </p:nvSpPr>
        <p:spPr>
          <a:xfrm>
            <a:off x="4800600" y="4142232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GB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NZ rules clear: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9"/>
          <p:cNvSpPr/>
          <p:nvPr/>
        </p:nvSpPr>
        <p:spPr>
          <a:xfrm>
            <a:off x="6373368" y="4178808"/>
            <a:ext cx="182880" cy="146304"/>
          </a:xfrm>
          <a:prstGeom prst="ellipse">
            <a:avLst/>
          </a:prstGeom>
          <a:solidFill>
            <a:srgbClr val="7B2D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9"/>
          <p:cNvSpPr/>
          <p:nvPr/>
        </p:nvSpPr>
        <p:spPr>
          <a:xfrm>
            <a:off x="6629400" y="4178808"/>
            <a:ext cx="182880" cy="146304"/>
          </a:xfrm>
          <a:prstGeom prst="ellipse">
            <a:avLst/>
          </a:prstGeom>
          <a:solidFill>
            <a:srgbClr val="7B2D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9"/>
          <p:cNvSpPr/>
          <p:nvPr/>
        </p:nvSpPr>
        <p:spPr>
          <a:xfrm>
            <a:off x="6885432" y="4178808"/>
            <a:ext cx="182880" cy="146304"/>
          </a:xfrm>
          <a:prstGeom prst="ellipse">
            <a:avLst/>
          </a:prstGeom>
          <a:solidFill>
            <a:srgbClr val="7B2D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9"/>
          <p:cNvSpPr/>
          <p:nvPr/>
        </p:nvSpPr>
        <p:spPr>
          <a:xfrm>
            <a:off x="7141464" y="4178808"/>
            <a:ext cx="182880" cy="146304"/>
          </a:xfrm>
          <a:prstGeom prst="ellipse">
            <a:avLst/>
          </a:prstGeom>
          <a:solidFill>
            <a:srgbClr val="7B2D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9"/>
          <p:cNvSpPr/>
          <p:nvPr/>
        </p:nvSpPr>
        <p:spPr>
          <a:xfrm>
            <a:off x="7397496" y="4178808"/>
            <a:ext cx="182880" cy="146304"/>
          </a:xfrm>
          <a:prstGeom prst="ellipse">
            <a:avLst/>
          </a:prstGeom>
          <a:solidFill>
            <a:srgbClr val="7B2D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9"/>
          <p:cNvSpPr/>
          <p:nvPr/>
        </p:nvSpPr>
        <p:spPr>
          <a:xfrm>
            <a:off x="7726680" y="414223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6E"/>
              </a:buClr>
              <a:buSzPts val="900"/>
              <a:buFont typeface="Calibri"/>
              <a:buNone/>
            </a:pPr>
            <a:r>
              <a:rPr b="1" lang="en-GB" sz="900">
                <a:solidFill>
                  <a:srgbClr val="7B2D6E"/>
                </a:solidFill>
                <a:latin typeface="Calibri"/>
                <a:ea typeface="Calibri"/>
                <a:cs typeface="Calibri"/>
                <a:sym typeface="Calibri"/>
              </a:rPr>
              <a:t>5/5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9"/>
          <p:cNvSpPr/>
          <p:nvPr/>
        </p:nvSpPr>
        <p:spPr>
          <a:xfrm>
            <a:off x="4800600" y="4370832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GB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HUD helpful: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9"/>
          <p:cNvSpPr/>
          <p:nvPr/>
        </p:nvSpPr>
        <p:spPr>
          <a:xfrm>
            <a:off x="6373368" y="4407408"/>
            <a:ext cx="182880" cy="146304"/>
          </a:xfrm>
          <a:prstGeom prst="ellipse">
            <a:avLst/>
          </a:prstGeom>
          <a:solidFill>
            <a:srgbClr val="7B2D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9"/>
          <p:cNvSpPr/>
          <p:nvPr/>
        </p:nvSpPr>
        <p:spPr>
          <a:xfrm>
            <a:off x="6629400" y="4407408"/>
            <a:ext cx="182880" cy="146304"/>
          </a:xfrm>
          <a:prstGeom prst="ellipse">
            <a:avLst/>
          </a:prstGeom>
          <a:solidFill>
            <a:srgbClr val="7B2D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9"/>
          <p:cNvSpPr/>
          <p:nvPr/>
        </p:nvSpPr>
        <p:spPr>
          <a:xfrm>
            <a:off x="6885432" y="4407408"/>
            <a:ext cx="182880" cy="146304"/>
          </a:xfrm>
          <a:prstGeom prst="ellipse">
            <a:avLst/>
          </a:prstGeom>
          <a:solidFill>
            <a:srgbClr val="7B2D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9"/>
          <p:cNvSpPr/>
          <p:nvPr/>
        </p:nvSpPr>
        <p:spPr>
          <a:xfrm>
            <a:off x="7141464" y="4407408"/>
            <a:ext cx="182880" cy="14630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9"/>
          <p:cNvSpPr/>
          <p:nvPr/>
        </p:nvSpPr>
        <p:spPr>
          <a:xfrm>
            <a:off x="7397496" y="4407408"/>
            <a:ext cx="182880" cy="14630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9"/>
          <p:cNvSpPr/>
          <p:nvPr/>
        </p:nvSpPr>
        <p:spPr>
          <a:xfrm>
            <a:off x="7726680" y="437083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6E"/>
              </a:buClr>
              <a:buSzPts val="900"/>
              <a:buFont typeface="Calibri"/>
              <a:buNone/>
            </a:pPr>
            <a:r>
              <a:rPr b="1" lang="en-GB" sz="900">
                <a:solidFill>
                  <a:srgbClr val="7B2D6E"/>
                </a:solidFill>
                <a:latin typeface="Calibri"/>
                <a:ea typeface="Calibri"/>
                <a:cs typeface="Calibri"/>
                <a:sym typeface="Calibri"/>
              </a:rPr>
              <a:t>3/5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9"/>
          <p:cNvSpPr/>
          <p:nvPr/>
        </p:nvSpPr>
        <p:spPr>
          <a:xfrm>
            <a:off x="4800600" y="4599432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GB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Would use again: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9"/>
          <p:cNvSpPr/>
          <p:nvPr/>
        </p:nvSpPr>
        <p:spPr>
          <a:xfrm>
            <a:off x="6373368" y="4636008"/>
            <a:ext cx="182880" cy="146304"/>
          </a:xfrm>
          <a:prstGeom prst="ellipse">
            <a:avLst/>
          </a:prstGeom>
          <a:solidFill>
            <a:srgbClr val="7B2D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9"/>
          <p:cNvSpPr/>
          <p:nvPr/>
        </p:nvSpPr>
        <p:spPr>
          <a:xfrm>
            <a:off x="6629400" y="4636008"/>
            <a:ext cx="182880" cy="146304"/>
          </a:xfrm>
          <a:prstGeom prst="ellipse">
            <a:avLst/>
          </a:prstGeom>
          <a:solidFill>
            <a:srgbClr val="7B2D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9"/>
          <p:cNvSpPr/>
          <p:nvPr/>
        </p:nvSpPr>
        <p:spPr>
          <a:xfrm>
            <a:off x="6885432" y="4636008"/>
            <a:ext cx="182880" cy="146304"/>
          </a:xfrm>
          <a:prstGeom prst="ellipse">
            <a:avLst/>
          </a:prstGeom>
          <a:solidFill>
            <a:srgbClr val="7B2D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9"/>
          <p:cNvSpPr/>
          <p:nvPr/>
        </p:nvSpPr>
        <p:spPr>
          <a:xfrm>
            <a:off x="7141464" y="4636008"/>
            <a:ext cx="182880" cy="146304"/>
          </a:xfrm>
          <a:prstGeom prst="ellipse">
            <a:avLst/>
          </a:prstGeom>
          <a:solidFill>
            <a:srgbClr val="7B2D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9"/>
          <p:cNvSpPr/>
          <p:nvPr/>
        </p:nvSpPr>
        <p:spPr>
          <a:xfrm>
            <a:off x="7397496" y="4636008"/>
            <a:ext cx="182880" cy="146304"/>
          </a:xfrm>
          <a:prstGeom prst="ellipse">
            <a:avLst/>
          </a:prstGeom>
          <a:solidFill>
            <a:srgbClr val="7B2D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9"/>
          <p:cNvSpPr/>
          <p:nvPr/>
        </p:nvSpPr>
        <p:spPr>
          <a:xfrm>
            <a:off x="7726680" y="459943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6E"/>
              </a:buClr>
              <a:buSzPts val="900"/>
              <a:buFont typeface="Calibri"/>
              <a:buNone/>
            </a:pPr>
            <a:r>
              <a:rPr b="1" lang="en-GB" sz="900">
                <a:solidFill>
                  <a:srgbClr val="7B2D6E"/>
                </a:solidFill>
                <a:latin typeface="Calibri"/>
                <a:ea typeface="Calibri"/>
                <a:cs typeface="Calibri"/>
                <a:sym typeface="Calibri"/>
              </a:rPr>
              <a:t>5/5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9"/>
          <p:cNvSpPr/>
          <p:nvPr/>
        </p:nvSpPr>
        <p:spPr>
          <a:xfrm>
            <a:off x="4800600" y="4828032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GB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Learned something: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9"/>
          <p:cNvSpPr/>
          <p:nvPr/>
        </p:nvSpPr>
        <p:spPr>
          <a:xfrm>
            <a:off x="6373368" y="4864608"/>
            <a:ext cx="182880" cy="146304"/>
          </a:xfrm>
          <a:prstGeom prst="ellipse">
            <a:avLst/>
          </a:prstGeom>
          <a:solidFill>
            <a:srgbClr val="7B2D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9"/>
          <p:cNvSpPr/>
          <p:nvPr/>
        </p:nvSpPr>
        <p:spPr>
          <a:xfrm>
            <a:off x="6629400" y="4864608"/>
            <a:ext cx="182880" cy="146304"/>
          </a:xfrm>
          <a:prstGeom prst="ellipse">
            <a:avLst/>
          </a:prstGeom>
          <a:solidFill>
            <a:srgbClr val="7B2D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9"/>
          <p:cNvSpPr/>
          <p:nvPr/>
        </p:nvSpPr>
        <p:spPr>
          <a:xfrm>
            <a:off x="6885432" y="4864608"/>
            <a:ext cx="182880" cy="146304"/>
          </a:xfrm>
          <a:prstGeom prst="ellipse">
            <a:avLst/>
          </a:prstGeom>
          <a:solidFill>
            <a:srgbClr val="7B2D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9"/>
          <p:cNvSpPr/>
          <p:nvPr/>
        </p:nvSpPr>
        <p:spPr>
          <a:xfrm>
            <a:off x="7141464" y="4864608"/>
            <a:ext cx="182880" cy="146304"/>
          </a:xfrm>
          <a:prstGeom prst="ellipse">
            <a:avLst/>
          </a:prstGeom>
          <a:solidFill>
            <a:srgbClr val="7B2D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9"/>
          <p:cNvSpPr/>
          <p:nvPr/>
        </p:nvSpPr>
        <p:spPr>
          <a:xfrm>
            <a:off x="7397496" y="4864608"/>
            <a:ext cx="182880" cy="146304"/>
          </a:xfrm>
          <a:prstGeom prst="ellipse">
            <a:avLst/>
          </a:prstGeom>
          <a:solidFill>
            <a:srgbClr val="7B2D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9"/>
          <p:cNvSpPr/>
          <p:nvPr/>
        </p:nvSpPr>
        <p:spPr>
          <a:xfrm>
            <a:off x="7726680" y="482803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6E"/>
              </a:buClr>
              <a:buSzPts val="900"/>
              <a:buFont typeface="Calibri"/>
              <a:buNone/>
            </a:pPr>
            <a:r>
              <a:rPr b="1" lang="en-GB" sz="900">
                <a:solidFill>
                  <a:srgbClr val="7B2D6E"/>
                </a:solidFill>
                <a:latin typeface="Calibri"/>
                <a:ea typeface="Calibri"/>
                <a:cs typeface="Calibri"/>
                <a:sym typeface="Calibri"/>
              </a:rPr>
              <a:t>5/5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9"/>
          <p:cNvSpPr/>
          <p:nvPr/>
        </p:nvSpPr>
        <p:spPr>
          <a:xfrm>
            <a:off x="228600" y="6217920"/>
            <a:ext cx="8686800" cy="29260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9"/>
          <p:cNvSpPr/>
          <p:nvPr/>
        </p:nvSpPr>
        <p:spPr>
          <a:xfrm>
            <a:off x="320040" y="6245352"/>
            <a:ext cx="8503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59"/>
              </a:buClr>
              <a:buSzPts val="900"/>
              <a:buFont typeface="Calibri"/>
              <a:buNone/>
            </a:pPr>
            <a:r>
              <a:rPr b="1" lang="en-GB" sz="900">
                <a:solidFill>
                  <a:srgbClr val="1B2459"/>
                </a:solidFill>
                <a:latin typeface="Calibri"/>
                <a:ea typeface="Calibri"/>
                <a:cs typeface="Calibri"/>
                <a:sym typeface="Calibri"/>
              </a:rPr>
              <a:t>Common gap: Roundabout module missing  ·  Mobile/touch support needed  ·  Both users rated NZ rules clarity 5/5 and would use again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1AF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0"/>
          <p:cNvSpPr/>
          <p:nvPr/>
        </p:nvSpPr>
        <p:spPr>
          <a:xfrm>
            <a:off x="365750" y="109725"/>
            <a:ext cx="8058600" cy="402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lang="en-GB" sz="27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Improved Personas</a:t>
            </a:r>
            <a:endParaRPr sz="270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38" name="Google Shape;338;p20"/>
          <p:cNvSpPr/>
          <p:nvPr/>
        </p:nvSpPr>
        <p:spPr>
          <a:xfrm>
            <a:off x="365750" y="511950"/>
            <a:ext cx="8229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i="1" lang="en-GB"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How our personas evolved after real user testing</a:t>
            </a:r>
            <a:endParaRPr sz="1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0"/>
          <p:cNvSpPr/>
          <p:nvPr/>
        </p:nvSpPr>
        <p:spPr>
          <a:xfrm>
            <a:off x="2194560" y="841248"/>
            <a:ext cx="3063240" cy="2926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0"/>
          <p:cNvSpPr/>
          <p:nvPr/>
        </p:nvSpPr>
        <p:spPr>
          <a:xfrm>
            <a:off x="2194560" y="841248"/>
            <a:ext cx="3063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1" lang="en-GB" sz="10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Before Testing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0"/>
          <p:cNvSpPr/>
          <p:nvPr/>
        </p:nvSpPr>
        <p:spPr>
          <a:xfrm>
            <a:off x="5349240" y="841248"/>
            <a:ext cx="3566160" cy="292608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0"/>
          <p:cNvSpPr/>
          <p:nvPr/>
        </p:nvSpPr>
        <p:spPr>
          <a:xfrm>
            <a:off x="5349240" y="841248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050"/>
              <a:buFont typeface="Calibri"/>
              <a:buNone/>
            </a:pPr>
            <a:r>
              <a:rPr b="1" lang="en-GB" sz="1050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After Testing  (Updated)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3" name="Google Shape;343;p20"/>
          <p:cNvCxnSpPr/>
          <p:nvPr/>
        </p:nvCxnSpPr>
        <p:spPr>
          <a:xfrm>
            <a:off x="228600" y="1170432"/>
            <a:ext cx="8686800" cy="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4" name="Google Shape;344;p20"/>
          <p:cNvSpPr/>
          <p:nvPr/>
        </p:nvSpPr>
        <p:spPr>
          <a:xfrm>
            <a:off x="228600" y="1207008"/>
            <a:ext cx="1828800" cy="256032"/>
          </a:xfrm>
          <a:prstGeom prst="rect">
            <a:avLst/>
          </a:prstGeom>
          <a:solidFill>
            <a:srgbClr val="1B24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20"/>
          <p:cNvSpPr/>
          <p:nvPr/>
        </p:nvSpPr>
        <p:spPr>
          <a:xfrm>
            <a:off x="228600" y="120700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GB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SARATH  🇮🇳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0"/>
          <p:cNvSpPr/>
          <p:nvPr/>
        </p:nvSpPr>
        <p:spPr>
          <a:xfrm>
            <a:off x="228600" y="153619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1" lang="en-GB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Main pain point: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0"/>
          <p:cNvSpPr/>
          <p:nvPr/>
        </p:nvSpPr>
        <p:spPr>
          <a:xfrm>
            <a:off x="2148840" y="1554480"/>
            <a:ext cx="3063240" cy="237744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0"/>
          <p:cNvSpPr/>
          <p:nvPr/>
        </p:nvSpPr>
        <p:spPr>
          <a:xfrm>
            <a:off x="2176272" y="1554480"/>
            <a:ext cx="3017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GB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Roundabouts as primary fear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0"/>
          <p:cNvSpPr/>
          <p:nvPr/>
        </p:nvSpPr>
        <p:spPr>
          <a:xfrm>
            <a:off x="5321808" y="1554480"/>
            <a:ext cx="3566160" cy="237744"/>
          </a:xfrm>
          <a:prstGeom prst="rect">
            <a:avLst/>
          </a:prstGeom>
          <a:solidFill>
            <a:srgbClr val="DCFCE7"/>
          </a:solidFill>
          <a:ln cap="flat" cmpd="sng" w="9525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0"/>
          <p:cNvSpPr/>
          <p:nvPr/>
        </p:nvSpPr>
        <p:spPr>
          <a:xfrm>
            <a:off x="5321808" y="1554480"/>
            <a:ext cx="54864" cy="23774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0"/>
          <p:cNvSpPr/>
          <p:nvPr/>
        </p:nvSpPr>
        <p:spPr>
          <a:xfrm>
            <a:off x="5413248" y="1554480"/>
            <a:ext cx="34381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GB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Roundabouts confirmed ✓ — plus T-intersection give-way also a significant gap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0"/>
          <p:cNvSpPr/>
          <p:nvPr/>
        </p:nvSpPr>
        <p:spPr>
          <a:xfrm>
            <a:off x="228600" y="1837944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1" lang="en-GB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Device preference: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0"/>
          <p:cNvSpPr/>
          <p:nvPr/>
        </p:nvSpPr>
        <p:spPr>
          <a:xfrm>
            <a:off x="2148840" y="1856232"/>
            <a:ext cx="3063240" cy="237744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0"/>
          <p:cNvSpPr/>
          <p:nvPr/>
        </p:nvSpPr>
        <p:spPr>
          <a:xfrm>
            <a:off x="2176272" y="1856232"/>
            <a:ext cx="3017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GB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Laptop as primary device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0"/>
          <p:cNvSpPr/>
          <p:nvPr/>
        </p:nvSpPr>
        <p:spPr>
          <a:xfrm>
            <a:off x="5321808" y="1856232"/>
            <a:ext cx="3566160" cy="237744"/>
          </a:xfrm>
          <a:prstGeom prst="rect">
            <a:avLst/>
          </a:prstGeom>
          <a:solidFill>
            <a:srgbClr val="DCFCE7"/>
          </a:solidFill>
          <a:ln cap="flat" cmpd="sng" w="9525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0"/>
          <p:cNvSpPr/>
          <p:nvPr/>
        </p:nvSpPr>
        <p:spPr>
          <a:xfrm>
            <a:off x="5321808" y="1856232"/>
            <a:ext cx="54864" cy="23774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20"/>
          <p:cNvSpPr/>
          <p:nvPr/>
        </p:nvSpPr>
        <p:spPr>
          <a:xfrm>
            <a:off x="5413248" y="1856232"/>
            <a:ext cx="34381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GB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Laptop confirmed ✓ — HUD needs a simplified onboarding mode for first-time users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0"/>
          <p:cNvSpPr/>
          <p:nvPr/>
        </p:nvSpPr>
        <p:spPr>
          <a:xfrm>
            <a:off x="228600" y="2139696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1" lang="en-GB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Learning style: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0"/>
          <p:cNvSpPr/>
          <p:nvPr/>
        </p:nvSpPr>
        <p:spPr>
          <a:xfrm>
            <a:off x="2148840" y="2157984"/>
            <a:ext cx="3063240" cy="237744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20"/>
          <p:cNvSpPr/>
          <p:nvPr/>
        </p:nvSpPr>
        <p:spPr>
          <a:xfrm>
            <a:off x="2176272" y="2157984"/>
            <a:ext cx="3017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GB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Prefers to learn by doing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0"/>
          <p:cNvSpPr/>
          <p:nvPr/>
        </p:nvSpPr>
        <p:spPr>
          <a:xfrm>
            <a:off x="5321808" y="2157984"/>
            <a:ext cx="3566100" cy="237600"/>
          </a:xfrm>
          <a:prstGeom prst="rect">
            <a:avLst/>
          </a:prstGeom>
          <a:solidFill>
            <a:srgbClr val="DCFCE7"/>
          </a:solidFill>
          <a:ln cap="flat" cmpd="sng" w="9525">
            <a:solidFill>
              <a:srgbClr val="D1FA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20"/>
          <p:cNvSpPr/>
          <p:nvPr/>
        </p:nvSpPr>
        <p:spPr>
          <a:xfrm>
            <a:off x="5413248" y="2157984"/>
            <a:ext cx="3438144" cy="237744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GB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Strongly confirmed ✓ — interactive practice beats reading rules by a wide margin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0"/>
          <p:cNvSpPr/>
          <p:nvPr/>
        </p:nvSpPr>
        <p:spPr>
          <a:xfrm>
            <a:off x="228600" y="244144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1" lang="en-GB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When he'd use it: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0"/>
          <p:cNvSpPr/>
          <p:nvPr/>
        </p:nvSpPr>
        <p:spPr>
          <a:xfrm>
            <a:off x="2148840" y="2459736"/>
            <a:ext cx="3063240" cy="237744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0"/>
          <p:cNvSpPr/>
          <p:nvPr/>
        </p:nvSpPr>
        <p:spPr>
          <a:xfrm>
            <a:off x="2176272" y="2459736"/>
            <a:ext cx="3017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GB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Assumed: before/after arriving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0"/>
          <p:cNvSpPr/>
          <p:nvPr/>
        </p:nvSpPr>
        <p:spPr>
          <a:xfrm>
            <a:off x="5321808" y="2459736"/>
            <a:ext cx="3566160" cy="237744"/>
          </a:xfrm>
          <a:prstGeom prst="rect">
            <a:avLst/>
          </a:prstGeom>
          <a:solidFill>
            <a:srgbClr val="DCFCE7"/>
          </a:solidFill>
          <a:ln cap="flat" cmpd="sng" w="9525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20"/>
          <p:cNvSpPr/>
          <p:nvPr/>
        </p:nvSpPr>
        <p:spPr>
          <a:xfrm>
            <a:off x="5321808" y="2459736"/>
            <a:ext cx="54864" cy="23774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20"/>
          <p:cNvSpPr/>
          <p:nvPr/>
        </p:nvSpPr>
        <p:spPr>
          <a:xfrm>
            <a:off x="5413248" y="2459736"/>
            <a:ext cx="34381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GB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Specific: during first week in Auckland, before first solo drive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0"/>
          <p:cNvSpPr/>
          <p:nvPr/>
        </p:nvSpPr>
        <p:spPr>
          <a:xfrm>
            <a:off x="228600" y="2788920"/>
            <a:ext cx="8686800" cy="256032"/>
          </a:xfrm>
          <a:prstGeom prst="rect">
            <a:avLst/>
          </a:prstGeom>
          <a:solidFill>
            <a:srgbClr val="FEF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0"/>
          <p:cNvSpPr/>
          <p:nvPr/>
        </p:nvSpPr>
        <p:spPr>
          <a:xfrm>
            <a:off x="320040" y="2816352"/>
            <a:ext cx="8503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1" lang="en-GB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💡 Design implication (Sarath):  Add a dedicated roundabout mission module. Offer a simplified HUD mode for new users.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1" name="Google Shape;371;p20"/>
          <p:cNvCxnSpPr/>
          <p:nvPr/>
        </p:nvCxnSpPr>
        <p:spPr>
          <a:xfrm>
            <a:off x="228600" y="3127248"/>
            <a:ext cx="8686800" cy="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2" name="Google Shape;372;p20"/>
          <p:cNvSpPr/>
          <p:nvPr/>
        </p:nvSpPr>
        <p:spPr>
          <a:xfrm>
            <a:off x="228600" y="3200400"/>
            <a:ext cx="1828800" cy="256032"/>
          </a:xfrm>
          <a:prstGeom prst="rect">
            <a:avLst/>
          </a:prstGeom>
          <a:solidFill>
            <a:srgbClr val="7B2D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20"/>
          <p:cNvSpPr/>
          <p:nvPr/>
        </p:nvSpPr>
        <p:spPr>
          <a:xfrm>
            <a:off x="228600" y="320040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GB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SOFIA  🇺🇸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0"/>
          <p:cNvSpPr/>
          <p:nvPr/>
        </p:nvSpPr>
        <p:spPr>
          <a:xfrm>
            <a:off x="228600" y="3529584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1" lang="en-GB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Primary fear: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0"/>
          <p:cNvSpPr/>
          <p:nvPr/>
        </p:nvSpPr>
        <p:spPr>
          <a:xfrm>
            <a:off x="2148840" y="3547872"/>
            <a:ext cx="3063240" cy="237744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20"/>
          <p:cNvSpPr/>
          <p:nvPr/>
        </p:nvSpPr>
        <p:spPr>
          <a:xfrm>
            <a:off x="2176272" y="3547872"/>
            <a:ext cx="3017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GB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Driving on wrong side — general anxiety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0"/>
          <p:cNvSpPr/>
          <p:nvPr/>
        </p:nvSpPr>
        <p:spPr>
          <a:xfrm>
            <a:off x="5321808" y="3547872"/>
            <a:ext cx="3566160" cy="237744"/>
          </a:xfrm>
          <a:prstGeom prst="rect">
            <a:avLst/>
          </a:prstGeom>
          <a:solidFill>
            <a:srgbClr val="DCFCE7"/>
          </a:solidFill>
          <a:ln cap="flat" cmpd="sng" w="9525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0"/>
          <p:cNvSpPr/>
          <p:nvPr/>
        </p:nvSpPr>
        <p:spPr>
          <a:xfrm>
            <a:off x="5321808" y="3547872"/>
            <a:ext cx="54864" cy="23774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0"/>
          <p:cNvSpPr/>
          <p:nvPr/>
        </p:nvSpPr>
        <p:spPr>
          <a:xfrm>
            <a:off x="5413248" y="3547872"/>
            <a:ext cx="34381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GB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Confirmed — specifically muscle memory kicking in during sudden panic situations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0"/>
          <p:cNvSpPr/>
          <p:nvPr/>
        </p:nvSpPr>
        <p:spPr>
          <a:xfrm>
            <a:off x="228600" y="3831336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1" lang="en-GB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Device access: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0"/>
          <p:cNvSpPr/>
          <p:nvPr/>
        </p:nvSpPr>
        <p:spPr>
          <a:xfrm>
            <a:off x="2148840" y="3849624"/>
            <a:ext cx="3063240" cy="237744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0"/>
          <p:cNvSpPr/>
          <p:nvPr/>
        </p:nvSpPr>
        <p:spPr>
          <a:xfrm>
            <a:off x="2176272" y="3849624"/>
            <a:ext cx="3017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GB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Mobile/tablet user (assumed barrier)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0"/>
          <p:cNvSpPr/>
          <p:nvPr/>
        </p:nvSpPr>
        <p:spPr>
          <a:xfrm>
            <a:off x="5321808" y="3849624"/>
            <a:ext cx="3566160" cy="237744"/>
          </a:xfrm>
          <a:prstGeom prst="rect">
            <a:avLst/>
          </a:prstGeom>
          <a:solidFill>
            <a:srgbClr val="DCFCE7"/>
          </a:solidFill>
          <a:ln cap="flat" cmpd="sng" w="9525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0"/>
          <p:cNvSpPr/>
          <p:nvPr/>
        </p:nvSpPr>
        <p:spPr>
          <a:xfrm>
            <a:off x="5321808" y="3849624"/>
            <a:ext cx="54864" cy="23774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20"/>
          <p:cNvSpPr/>
          <p:nvPr/>
        </p:nvSpPr>
        <p:spPr>
          <a:xfrm>
            <a:off x="5413248" y="3849624"/>
            <a:ext cx="34381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GB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Keyboard-only game confirmed as a critical barrier — mobile support now a must-have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0"/>
          <p:cNvSpPr/>
          <p:nvPr/>
        </p:nvSpPr>
        <p:spPr>
          <a:xfrm>
            <a:off x="228600" y="413308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1" lang="en-GB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When she'd use it: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0"/>
          <p:cNvSpPr/>
          <p:nvPr/>
        </p:nvSpPr>
        <p:spPr>
          <a:xfrm>
            <a:off x="2148840" y="4151376"/>
            <a:ext cx="3063240" cy="237744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20"/>
          <p:cNvSpPr/>
          <p:nvPr/>
        </p:nvSpPr>
        <p:spPr>
          <a:xfrm>
            <a:off x="2176272" y="4151376"/>
            <a:ext cx="3017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GB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First week in NZ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0"/>
          <p:cNvSpPr/>
          <p:nvPr/>
        </p:nvSpPr>
        <p:spPr>
          <a:xfrm>
            <a:off x="5321808" y="4151376"/>
            <a:ext cx="3566160" cy="237744"/>
          </a:xfrm>
          <a:prstGeom prst="rect">
            <a:avLst/>
          </a:prstGeom>
          <a:solidFill>
            <a:srgbClr val="DCFCE7"/>
          </a:solidFill>
          <a:ln cap="flat" cmpd="sng" w="9525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20"/>
          <p:cNvSpPr/>
          <p:nvPr/>
        </p:nvSpPr>
        <p:spPr>
          <a:xfrm>
            <a:off x="5321808" y="4151376"/>
            <a:ext cx="54864" cy="23774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0"/>
          <p:cNvSpPr/>
          <p:nvPr/>
        </p:nvSpPr>
        <p:spPr>
          <a:xfrm>
            <a:off x="5413248" y="4151376"/>
            <a:ext cx="34381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GB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Before arriving — while still in the US planning road trips (earlier than assumed)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0"/>
          <p:cNvSpPr/>
          <p:nvPr/>
        </p:nvSpPr>
        <p:spPr>
          <a:xfrm>
            <a:off x="228600" y="443484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1" lang="en-GB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Content need: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0"/>
          <p:cNvSpPr/>
          <p:nvPr/>
        </p:nvSpPr>
        <p:spPr>
          <a:xfrm>
            <a:off x="2148840" y="4453128"/>
            <a:ext cx="3063240" cy="237744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20"/>
          <p:cNvSpPr/>
          <p:nvPr/>
        </p:nvSpPr>
        <p:spPr>
          <a:xfrm>
            <a:off x="2176272" y="4453128"/>
            <a:ext cx="3017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GB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Visual summaries of NZ rules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0"/>
          <p:cNvSpPr/>
          <p:nvPr/>
        </p:nvSpPr>
        <p:spPr>
          <a:xfrm>
            <a:off x="5321808" y="4453128"/>
            <a:ext cx="3566160" cy="237744"/>
          </a:xfrm>
          <a:prstGeom prst="rect">
            <a:avLst/>
          </a:prstGeom>
          <a:solidFill>
            <a:srgbClr val="DCFCE7"/>
          </a:solidFill>
          <a:ln cap="flat" cmpd="sng" w="9525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0"/>
          <p:cNvSpPr/>
          <p:nvPr/>
        </p:nvSpPr>
        <p:spPr>
          <a:xfrm>
            <a:off x="5321808" y="4453128"/>
            <a:ext cx="54864" cy="23774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0"/>
          <p:cNvSpPr/>
          <p:nvPr/>
        </p:nvSpPr>
        <p:spPr>
          <a:xfrm>
            <a:off x="5413248" y="4453128"/>
            <a:ext cx="34381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GB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Confirmed ✓ — plus wants a 'Switch Sides' guide for mirrors and blind spots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0"/>
          <p:cNvSpPr/>
          <p:nvPr/>
        </p:nvSpPr>
        <p:spPr>
          <a:xfrm>
            <a:off x="228600" y="4782312"/>
            <a:ext cx="8686800" cy="256032"/>
          </a:xfrm>
          <a:prstGeom prst="rect">
            <a:avLst/>
          </a:prstGeom>
          <a:solidFill>
            <a:srgbClr val="F5EF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0"/>
          <p:cNvSpPr/>
          <p:nvPr/>
        </p:nvSpPr>
        <p:spPr>
          <a:xfrm>
            <a:off x="320040" y="4809744"/>
            <a:ext cx="8503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1" lang="en-GB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💡 Design implication (Sofia):  Add mobile/touch controls. Build a 'Switch Sides' onboarding guide. Make the tool available pre-arrival.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0" name="Google Shape;400;p20"/>
          <p:cNvCxnSpPr/>
          <p:nvPr/>
        </p:nvCxnSpPr>
        <p:spPr>
          <a:xfrm>
            <a:off x="228600" y="5166360"/>
            <a:ext cx="8686800" cy="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1" name="Google Shape;401;p20"/>
          <p:cNvSpPr/>
          <p:nvPr/>
        </p:nvSpPr>
        <p:spPr>
          <a:xfrm>
            <a:off x="228600" y="5212080"/>
            <a:ext cx="8686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Calibri"/>
              <a:buNone/>
            </a:pPr>
            <a:r>
              <a:rPr i="1" lang="en-GB" sz="8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Green highlight = assumption updated by real user feedback  ·  SE701 Group 2  ·  Learning Road Safety in NZ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1"/>
          <p:cNvSpPr/>
          <p:nvPr/>
        </p:nvSpPr>
        <p:spPr>
          <a:xfrm>
            <a:off x="0" y="0"/>
            <a:ext cx="9144000" cy="1003800"/>
          </a:xfrm>
          <a:prstGeom prst="rect">
            <a:avLst/>
          </a:prstGeom>
          <a:solidFill>
            <a:srgbClr val="01AF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07" name="Google Shape;407;p21"/>
          <p:cNvSpPr/>
          <p:nvPr/>
        </p:nvSpPr>
        <p:spPr>
          <a:xfrm>
            <a:off x="101475" y="234450"/>
            <a:ext cx="8933100" cy="534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08" name="Google Shape;408;p21"/>
          <p:cNvSpPr txBox="1"/>
          <p:nvPr>
            <p:ph type="title"/>
          </p:nvPr>
        </p:nvSpPr>
        <p:spPr>
          <a:xfrm>
            <a:off x="101475" y="215550"/>
            <a:ext cx="85206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900"/>
              <a:t>Wireframes</a:t>
            </a:r>
            <a:r>
              <a:rPr lang="en-GB" sz="2900"/>
              <a:t> &amp; </a:t>
            </a:r>
            <a:r>
              <a:rPr lang="en-GB" sz="2900"/>
              <a:t>Prototype</a:t>
            </a:r>
            <a:endParaRPr sz="2900"/>
          </a:p>
        </p:txBody>
      </p:sp>
      <p:sp>
        <p:nvSpPr>
          <p:cNvPr id="409" name="Google Shape;409;p21"/>
          <p:cNvSpPr/>
          <p:nvPr/>
        </p:nvSpPr>
        <p:spPr>
          <a:xfrm>
            <a:off x="805825" y="1303150"/>
            <a:ext cx="2894100" cy="534900"/>
          </a:xfrm>
          <a:prstGeom prst="rect">
            <a:avLst/>
          </a:prstGeom>
          <a:solidFill>
            <a:srgbClr val="01AF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Mission Map HUD</a:t>
            </a:r>
            <a:endParaRPr sz="18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Minimap, Hazards, Objective Tracker</a:t>
            </a:r>
            <a:endParaRPr sz="9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10" name="Google Shape;410;p21"/>
          <p:cNvSpPr txBox="1"/>
          <p:nvPr/>
        </p:nvSpPr>
        <p:spPr>
          <a:xfrm>
            <a:off x="6134850" y="1311088"/>
            <a:ext cx="26127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11" name="Google Shape;411;p21"/>
          <p:cNvSpPr/>
          <p:nvPr/>
        </p:nvSpPr>
        <p:spPr>
          <a:xfrm>
            <a:off x="805852" y="2025375"/>
            <a:ext cx="2894100" cy="534900"/>
          </a:xfrm>
          <a:prstGeom prst="rect">
            <a:avLst/>
          </a:prstGeom>
          <a:solidFill>
            <a:srgbClr val="01AF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Mission Scenarios</a:t>
            </a:r>
            <a:endParaRPr sz="18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Multiple driving contexts across different locations</a:t>
            </a:r>
            <a:endParaRPr sz="18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12" name="Google Shape;412;p21"/>
          <p:cNvSpPr/>
          <p:nvPr/>
        </p:nvSpPr>
        <p:spPr>
          <a:xfrm>
            <a:off x="805847" y="3533333"/>
            <a:ext cx="2894100" cy="534900"/>
          </a:xfrm>
          <a:prstGeom prst="rect">
            <a:avLst/>
          </a:prstGeom>
          <a:solidFill>
            <a:srgbClr val="01AF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Progressive Difficulty</a:t>
            </a:r>
            <a:endParaRPr sz="18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Missions scale from basic to complex multi-hazard</a:t>
            </a:r>
            <a:endParaRPr sz="18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13" name="Google Shape;413;p21"/>
          <p:cNvSpPr/>
          <p:nvPr/>
        </p:nvSpPr>
        <p:spPr>
          <a:xfrm>
            <a:off x="805827" y="2779350"/>
            <a:ext cx="2894100" cy="534900"/>
          </a:xfrm>
          <a:prstGeom prst="rect">
            <a:avLst/>
          </a:prstGeom>
          <a:solidFill>
            <a:srgbClr val="01AF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Guidance</a:t>
            </a:r>
            <a:endParaRPr sz="18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Visual and audio cues </a:t>
            </a:r>
            <a:endParaRPr sz="18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14" name="Google Shape;414;p21"/>
          <p:cNvSpPr/>
          <p:nvPr/>
        </p:nvSpPr>
        <p:spPr>
          <a:xfrm>
            <a:off x="805827" y="4271500"/>
            <a:ext cx="2894100" cy="534900"/>
          </a:xfrm>
          <a:prstGeom prst="rect">
            <a:avLst/>
          </a:prstGeom>
          <a:solidFill>
            <a:srgbClr val="01AF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Accessibility</a:t>
            </a:r>
            <a:endParaRPr sz="18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&gt;16pt text, Keyboard Controls and Audio</a:t>
            </a:r>
            <a:endParaRPr sz="18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15" name="Google Shape;415;p21"/>
          <p:cNvSpPr/>
          <p:nvPr/>
        </p:nvSpPr>
        <p:spPr>
          <a:xfrm>
            <a:off x="270925" y="1303150"/>
            <a:ext cx="534900" cy="5349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2"/>
                </a:solidFill>
              </a:rPr>
              <a:t>🗺️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16" name="Google Shape;416;p21"/>
          <p:cNvSpPr/>
          <p:nvPr/>
        </p:nvSpPr>
        <p:spPr>
          <a:xfrm>
            <a:off x="270925" y="2025363"/>
            <a:ext cx="534900" cy="5349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2"/>
                </a:solidFill>
              </a:rPr>
              <a:t>🎯 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17" name="Google Shape;417;p21"/>
          <p:cNvSpPr/>
          <p:nvPr/>
        </p:nvSpPr>
        <p:spPr>
          <a:xfrm>
            <a:off x="270925" y="2779350"/>
            <a:ext cx="534900" cy="534900"/>
          </a:xfrm>
          <a:prstGeom prst="rect">
            <a:avLst/>
          </a:prstGeom>
          <a:solidFill>
            <a:srgbClr val="E0666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2"/>
                </a:solidFill>
              </a:rPr>
              <a:t>🧭 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18" name="Google Shape;418;p21"/>
          <p:cNvSpPr/>
          <p:nvPr/>
        </p:nvSpPr>
        <p:spPr>
          <a:xfrm>
            <a:off x="270925" y="3525425"/>
            <a:ext cx="534900" cy="534900"/>
          </a:xfrm>
          <a:prstGeom prst="rect">
            <a:avLst/>
          </a:prstGeom>
          <a:solidFill>
            <a:srgbClr val="CC4125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📈 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19" name="Google Shape;419;p21"/>
          <p:cNvSpPr/>
          <p:nvPr/>
        </p:nvSpPr>
        <p:spPr>
          <a:xfrm>
            <a:off x="270925" y="4271500"/>
            <a:ext cx="534900" cy="534900"/>
          </a:xfrm>
          <a:prstGeom prst="rect">
            <a:avLst/>
          </a:prstGeom>
          <a:solidFill>
            <a:srgbClr val="A61C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2"/>
                </a:solidFill>
              </a:rPr>
              <a:t>♿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420" name="Google Shape;420;p21" title="C _ Mission Map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5350" y="1303152"/>
            <a:ext cx="5045489" cy="350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2"/>
          <p:cNvSpPr/>
          <p:nvPr/>
        </p:nvSpPr>
        <p:spPr>
          <a:xfrm>
            <a:off x="0" y="0"/>
            <a:ext cx="9144000" cy="1022700"/>
          </a:xfrm>
          <a:prstGeom prst="rect">
            <a:avLst/>
          </a:prstGeom>
          <a:solidFill>
            <a:srgbClr val="01AF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26" name="Google Shape;426;p22"/>
          <p:cNvSpPr/>
          <p:nvPr/>
        </p:nvSpPr>
        <p:spPr>
          <a:xfrm>
            <a:off x="105450" y="243900"/>
            <a:ext cx="8933100" cy="534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27" name="Google Shape;427;p22"/>
          <p:cNvSpPr txBox="1"/>
          <p:nvPr>
            <p:ph type="title"/>
          </p:nvPr>
        </p:nvSpPr>
        <p:spPr>
          <a:xfrm>
            <a:off x="105450" y="225000"/>
            <a:ext cx="85206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900"/>
              <a:t>Linking</a:t>
            </a:r>
            <a:r>
              <a:rPr lang="en-GB" sz="2900"/>
              <a:t> Educational Theory to Design</a:t>
            </a:r>
            <a:endParaRPr sz="2900"/>
          </a:p>
        </p:txBody>
      </p:sp>
      <p:grpSp>
        <p:nvGrpSpPr>
          <p:cNvPr id="428" name="Google Shape;428;p22"/>
          <p:cNvGrpSpPr/>
          <p:nvPr/>
        </p:nvGrpSpPr>
        <p:grpSpPr>
          <a:xfrm>
            <a:off x="311700" y="1234026"/>
            <a:ext cx="3999900" cy="1692080"/>
            <a:chOff x="311700" y="1234050"/>
            <a:chExt cx="3999900" cy="1590600"/>
          </a:xfrm>
        </p:grpSpPr>
        <p:sp>
          <p:nvSpPr>
            <p:cNvPr id="429" name="Google Shape;429;p22"/>
            <p:cNvSpPr/>
            <p:nvPr/>
          </p:nvSpPr>
          <p:spPr>
            <a:xfrm>
              <a:off x="311700" y="1234050"/>
              <a:ext cx="3999900" cy="1590600"/>
            </a:xfrm>
            <a:prstGeom prst="rect">
              <a:avLst/>
            </a:prstGeom>
            <a:solidFill>
              <a:srgbClr val="01AFD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430" name="Google Shape;430;p22"/>
            <p:cNvSpPr/>
            <p:nvPr/>
          </p:nvSpPr>
          <p:spPr>
            <a:xfrm>
              <a:off x="311700" y="1234050"/>
              <a:ext cx="3999900" cy="11220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</p:grpSp>
      <p:grpSp>
        <p:nvGrpSpPr>
          <p:cNvPr id="431" name="Google Shape;431;p22"/>
          <p:cNvGrpSpPr/>
          <p:nvPr/>
        </p:nvGrpSpPr>
        <p:grpSpPr>
          <a:xfrm>
            <a:off x="311700" y="3089540"/>
            <a:ext cx="3999900" cy="1692080"/>
            <a:chOff x="311700" y="1234050"/>
            <a:chExt cx="3999900" cy="1590600"/>
          </a:xfrm>
        </p:grpSpPr>
        <p:sp>
          <p:nvSpPr>
            <p:cNvPr id="432" name="Google Shape;432;p22"/>
            <p:cNvSpPr/>
            <p:nvPr/>
          </p:nvSpPr>
          <p:spPr>
            <a:xfrm>
              <a:off x="311700" y="1234050"/>
              <a:ext cx="3999900" cy="1590600"/>
            </a:xfrm>
            <a:prstGeom prst="rect">
              <a:avLst/>
            </a:prstGeom>
            <a:solidFill>
              <a:srgbClr val="01AFD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433" name="Google Shape;433;p22"/>
            <p:cNvSpPr/>
            <p:nvPr/>
          </p:nvSpPr>
          <p:spPr>
            <a:xfrm>
              <a:off x="311700" y="1234050"/>
              <a:ext cx="3999900" cy="11220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</p:grpSp>
      <p:grpSp>
        <p:nvGrpSpPr>
          <p:cNvPr id="434" name="Google Shape;434;p22"/>
          <p:cNvGrpSpPr/>
          <p:nvPr/>
        </p:nvGrpSpPr>
        <p:grpSpPr>
          <a:xfrm>
            <a:off x="4832400" y="1234026"/>
            <a:ext cx="3999900" cy="1692080"/>
            <a:chOff x="311700" y="1234050"/>
            <a:chExt cx="3999900" cy="1590600"/>
          </a:xfrm>
        </p:grpSpPr>
        <p:sp>
          <p:nvSpPr>
            <p:cNvPr id="435" name="Google Shape;435;p22"/>
            <p:cNvSpPr/>
            <p:nvPr/>
          </p:nvSpPr>
          <p:spPr>
            <a:xfrm>
              <a:off x="311700" y="1234050"/>
              <a:ext cx="3999900" cy="1590600"/>
            </a:xfrm>
            <a:prstGeom prst="rect">
              <a:avLst/>
            </a:prstGeom>
            <a:solidFill>
              <a:srgbClr val="01AFD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436" name="Google Shape;436;p22"/>
            <p:cNvSpPr/>
            <p:nvPr/>
          </p:nvSpPr>
          <p:spPr>
            <a:xfrm>
              <a:off x="311700" y="1234050"/>
              <a:ext cx="3999900" cy="11220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</p:grpSp>
      <p:grpSp>
        <p:nvGrpSpPr>
          <p:cNvPr id="437" name="Google Shape;437;p22"/>
          <p:cNvGrpSpPr/>
          <p:nvPr/>
        </p:nvGrpSpPr>
        <p:grpSpPr>
          <a:xfrm>
            <a:off x="4832400" y="3089540"/>
            <a:ext cx="3999900" cy="1692080"/>
            <a:chOff x="311700" y="1234050"/>
            <a:chExt cx="3999900" cy="1590600"/>
          </a:xfrm>
        </p:grpSpPr>
        <p:sp>
          <p:nvSpPr>
            <p:cNvPr id="438" name="Google Shape;438;p22"/>
            <p:cNvSpPr/>
            <p:nvPr/>
          </p:nvSpPr>
          <p:spPr>
            <a:xfrm>
              <a:off x="311700" y="1234050"/>
              <a:ext cx="3999900" cy="1590600"/>
            </a:xfrm>
            <a:prstGeom prst="rect">
              <a:avLst/>
            </a:prstGeom>
            <a:solidFill>
              <a:srgbClr val="01AFD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439" name="Google Shape;439;p22"/>
            <p:cNvSpPr/>
            <p:nvPr/>
          </p:nvSpPr>
          <p:spPr>
            <a:xfrm>
              <a:off x="311700" y="1234050"/>
              <a:ext cx="3999900" cy="11220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</p:grpSp>
      <p:sp>
        <p:nvSpPr>
          <p:cNvPr id="440" name="Google Shape;440;p22"/>
          <p:cNvSpPr txBox="1"/>
          <p:nvPr/>
        </p:nvSpPr>
        <p:spPr>
          <a:xfrm>
            <a:off x="311700" y="1355300"/>
            <a:ext cx="3999900" cy="15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Experientialism</a:t>
            </a:r>
            <a:endParaRPr b="1" sz="18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Game provides concrete experience -&gt; Reflective Observation via mission replay -&gt; active experimentation in safe simulated environments.</a:t>
            </a:r>
            <a:endParaRPr sz="10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Design: Mission Map loop mirrors Kolb's cycle; hazard pings trigger mid-drive reflection without breaking immersion.</a:t>
            </a:r>
            <a:endParaRPr b="1" sz="9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41" name="Google Shape;441;p22"/>
          <p:cNvSpPr txBox="1"/>
          <p:nvPr/>
        </p:nvSpPr>
        <p:spPr>
          <a:xfrm>
            <a:off x="311700" y="3210825"/>
            <a:ext cx="3999900" cy="15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Constructivism</a:t>
            </a:r>
            <a:endParaRPr b="1" sz="18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Scaffolded scenario exploration lets learners integrate new NZ rules with prior overseas driving knowledge, building generalisable understanding.</a:t>
            </a:r>
            <a:endParaRPr sz="10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Design: Missions set in recognisable NZ environments; reflection prompts after key decisions.</a:t>
            </a:r>
            <a:endParaRPr b="1" sz="9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42" name="Google Shape;442;p22"/>
          <p:cNvSpPr txBox="1"/>
          <p:nvPr/>
        </p:nvSpPr>
        <p:spPr>
          <a:xfrm>
            <a:off x="4832400" y="1355300"/>
            <a:ext cx="3999900" cy="15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Cognitivism</a:t>
            </a:r>
            <a:endParaRPr b="1" sz="18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HUD simplification reduces extraneous load so working memory can focus on road rules, not interface clutter.</a:t>
            </a:r>
            <a:endParaRPr sz="10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Design: Decluttered HUD (Week 9 update); large 16pt+ fonts; grouped indicators.</a:t>
            </a:r>
            <a:endParaRPr b="1" sz="9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43" name="Google Shape;443;p22"/>
          <p:cNvSpPr txBox="1"/>
          <p:nvPr/>
        </p:nvSpPr>
        <p:spPr>
          <a:xfrm>
            <a:off x="4832400" y="3210825"/>
            <a:ext cx="3999900" cy="15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Behaviourism</a:t>
            </a:r>
            <a:endParaRPr b="1" sz="18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Repeated practice and immediate corrective feedback reinforce correct road behaviours — score penalties, hazard pings, and mission retries build reflexive responses.</a:t>
            </a:r>
            <a:endParaRPr sz="10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Design: Feedback after every decision; points/progress tied to safe choices, not just completion.</a:t>
            </a:r>
            <a:endParaRPr b="1" sz="9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3"/>
          <p:cNvSpPr/>
          <p:nvPr/>
        </p:nvSpPr>
        <p:spPr>
          <a:xfrm>
            <a:off x="0" y="0"/>
            <a:ext cx="9144000" cy="1022700"/>
          </a:xfrm>
          <a:prstGeom prst="rect">
            <a:avLst/>
          </a:prstGeom>
          <a:solidFill>
            <a:srgbClr val="01AF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49" name="Google Shape;449;p23"/>
          <p:cNvSpPr/>
          <p:nvPr/>
        </p:nvSpPr>
        <p:spPr>
          <a:xfrm>
            <a:off x="0" y="0"/>
            <a:ext cx="9144000" cy="1022700"/>
          </a:xfrm>
          <a:prstGeom prst="rect">
            <a:avLst/>
          </a:prstGeom>
          <a:solidFill>
            <a:srgbClr val="01AF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50" name="Google Shape;450;p23"/>
          <p:cNvSpPr/>
          <p:nvPr/>
        </p:nvSpPr>
        <p:spPr>
          <a:xfrm>
            <a:off x="105450" y="243900"/>
            <a:ext cx="8933100" cy="534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51" name="Google Shape;451;p23"/>
          <p:cNvSpPr txBox="1"/>
          <p:nvPr>
            <p:ph type="title"/>
          </p:nvPr>
        </p:nvSpPr>
        <p:spPr>
          <a:xfrm>
            <a:off x="105450" y="225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900"/>
              <a:t>Next Steps - Before Week 11</a:t>
            </a:r>
            <a:endParaRPr sz="2900"/>
          </a:p>
        </p:txBody>
      </p:sp>
      <p:sp>
        <p:nvSpPr>
          <p:cNvPr id="452" name="Google Shape;452;p23"/>
          <p:cNvSpPr/>
          <p:nvPr/>
        </p:nvSpPr>
        <p:spPr>
          <a:xfrm>
            <a:off x="266550" y="1329675"/>
            <a:ext cx="8610900" cy="5727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53" name="Google Shape;453;p23"/>
          <p:cNvSpPr/>
          <p:nvPr/>
        </p:nvSpPr>
        <p:spPr>
          <a:xfrm>
            <a:off x="266550" y="2093600"/>
            <a:ext cx="8610900" cy="572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54" name="Google Shape;454;p23"/>
          <p:cNvSpPr/>
          <p:nvPr/>
        </p:nvSpPr>
        <p:spPr>
          <a:xfrm>
            <a:off x="266550" y="2857550"/>
            <a:ext cx="8610900" cy="5727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55" name="Google Shape;455;p23"/>
          <p:cNvSpPr/>
          <p:nvPr/>
        </p:nvSpPr>
        <p:spPr>
          <a:xfrm>
            <a:off x="266550" y="4385450"/>
            <a:ext cx="8610900" cy="5727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56" name="Google Shape;456;p23"/>
          <p:cNvSpPr/>
          <p:nvPr/>
        </p:nvSpPr>
        <p:spPr>
          <a:xfrm>
            <a:off x="266550" y="3621500"/>
            <a:ext cx="8610900" cy="572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57" name="Google Shape;457;p23"/>
          <p:cNvSpPr/>
          <p:nvPr/>
        </p:nvSpPr>
        <p:spPr>
          <a:xfrm>
            <a:off x="266550" y="1329675"/>
            <a:ext cx="572700" cy="5727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58" name="Google Shape;458;p23"/>
          <p:cNvSpPr/>
          <p:nvPr/>
        </p:nvSpPr>
        <p:spPr>
          <a:xfrm>
            <a:off x="266550" y="2093600"/>
            <a:ext cx="572700" cy="5727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59" name="Google Shape;459;p23"/>
          <p:cNvSpPr/>
          <p:nvPr/>
        </p:nvSpPr>
        <p:spPr>
          <a:xfrm>
            <a:off x="266550" y="2857550"/>
            <a:ext cx="572700" cy="5727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60" name="Google Shape;460;p23"/>
          <p:cNvSpPr/>
          <p:nvPr/>
        </p:nvSpPr>
        <p:spPr>
          <a:xfrm>
            <a:off x="266550" y="3621500"/>
            <a:ext cx="572700" cy="5727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61" name="Google Shape;461;p23"/>
          <p:cNvSpPr/>
          <p:nvPr/>
        </p:nvSpPr>
        <p:spPr>
          <a:xfrm>
            <a:off x="266550" y="4385450"/>
            <a:ext cx="572700" cy="572700"/>
          </a:xfrm>
          <a:prstGeom prst="rect">
            <a:avLst/>
          </a:prstGeom>
          <a:solidFill>
            <a:srgbClr val="E6B8A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62" name="Google Shape;462;p23"/>
          <p:cNvSpPr txBox="1"/>
          <p:nvPr/>
        </p:nvSpPr>
        <p:spPr>
          <a:xfrm>
            <a:off x="862950" y="1329675"/>
            <a:ext cx="8014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More Modules</a:t>
            </a:r>
            <a:endParaRPr sz="15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Addition of different road rule applications - Roundabouts, merge and multi-lanes</a:t>
            </a:r>
            <a:endParaRPr sz="1100">
              <a:solidFill>
                <a:srgbClr val="434343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63" name="Google Shape;463;p23"/>
          <p:cNvSpPr txBox="1"/>
          <p:nvPr/>
        </p:nvSpPr>
        <p:spPr>
          <a:xfrm>
            <a:off x="862950" y="2093613"/>
            <a:ext cx="8014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Progressive Difficulty </a:t>
            </a:r>
            <a:endParaRPr sz="15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Introduce difficulty scaling so missions increase in complexity</a:t>
            </a:r>
            <a:endParaRPr sz="11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64" name="Google Shape;464;p23"/>
          <p:cNvSpPr txBox="1"/>
          <p:nvPr/>
        </p:nvSpPr>
        <p:spPr>
          <a:xfrm>
            <a:off x="862950" y="2857550"/>
            <a:ext cx="8014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Guidance Expansion</a:t>
            </a:r>
            <a:endParaRPr sz="15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Add visual guide covering mirrors, blind spots and/or lane awareness </a:t>
            </a:r>
            <a:endParaRPr sz="1100">
              <a:solidFill>
                <a:srgbClr val="434343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65" name="Google Shape;465;p23"/>
          <p:cNvSpPr txBox="1"/>
          <p:nvPr/>
        </p:nvSpPr>
        <p:spPr>
          <a:xfrm>
            <a:off x="862950" y="3621500"/>
            <a:ext cx="8014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Additional Mission Scenarios</a:t>
            </a:r>
            <a:endParaRPr sz="15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Expand beyond current missions - more locations and rule types </a:t>
            </a:r>
            <a:endParaRPr sz="1100">
              <a:solidFill>
                <a:srgbClr val="434343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66" name="Google Shape;466;p23"/>
          <p:cNvSpPr txBox="1"/>
          <p:nvPr/>
        </p:nvSpPr>
        <p:spPr>
          <a:xfrm>
            <a:off x="862950" y="4385450"/>
            <a:ext cx="8014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User testing </a:t>
            </a:r>
            <a:endParaRPr sz="15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Test with more newcomers</a:t>
            </a:r>
            <a:endParaRPr sz="1100">
              <a:solidFill>
                <a:srgbClr val="434343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4"/>
          <p:cNvSpPr txBox="1"/>
          <p:nvPr>
            <p:ph type="ctr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Road Ready Aotearoa</a:t>
            </a:r>
            <a:endParaRPr/>
          </a:p>
        </p:txBody>
      </p:sp>
      <p:sp>
        <p:nvSpPr>
          <p:cNvPr id="472" name="Google Shape;472;p24"/>
          <p:cNvSpPr txBox="1"/>
          <p:nvPr>
            <p:ph idx="1" type="subTitle"/>
          </p:nvPr>
        </p:nvSpPr>
        <p:spPr>
          <a:xfrm>
            <a:off x="344250" y="3550650"/>
            <a:ext cx="49101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Questions &amp; Discussion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op">
  <a:themeElements>
    <a:clrScheme name="Pop">
      <a:dk1>
        <a:srgbClr val="F8E71C"/>
      </a:dk1>
      <a:lt1>
        <a:srgbClr val="FFFFFF"/>
      </a:lt1>
      <a:dk2>
        <a:srgbClr val="000000"/>
      </a:dk2>
      <a:lt2>
        <a:srgbClr val="D9D9D9"/>
      </a:lt2>
      <a:accent1>
        <a:srgbClr val="666666"/>
      </a:accent1>
      <a:accent2>
        <a:srgbClr val="483165"/>
      </a:accent2>
      <a:accent3>
        <a:srgbClr val="EB1E95"/>
      </a:accent3>
      <a:accent4>
        <a:srgbClr val="01AFD1"/>
      </a:accent4>
      <a:accent5>
        <a:srgbClr val="0F9D58"/>
      </a:accent5>
      <a:accent6>
        <a:srgbClr val="9C27B0"/>
      </a:accent6>
      <a:hlink>
        <a:srgbClr val="0F9D58"/>
      </a:hlink>
      <a:folHlink>
        <a:srgbClr val="0F9D5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