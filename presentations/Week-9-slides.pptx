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enty Sans" charset="1" panose="00000600000000000000"/>
      <p:regular r:id="rId14"/>
    </p:embeddedFont>
    <p:embeddedFont>
      <p:font typeface="Quicksand Bold" charset="1" panose="00000000000000000000"/>
      <p:regular r:id="rId15"/>
    </p:embeddedFont>
    <p:embeddedFont>
      <p:font typeface="Quicksand" charset="1" panose="00000000000000000000"/>
      <p:regular r:id="rId16"/>
    </p:embeddedFont>
    <p:embeddedFont>
      <p:font typeface="Canva Sans Bold" charset="1" panose="020B0803030501040103"/>
      <p:regular r:id="rId17"/>
    </p:embeddedFont>
    <p:embeddedFont>
      <p:font typeface="Canva Sans" charset="1" panose="020B0503030501040103"/>
      <p:regular r:id="rId18"/>
    </p:embeddedFont>
    <p:embeddedFont>
      <p:font typeface="Canva Sans Italic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11.png" Type="http://schemas.openxmlformats.org/officeDocument/2006/relationships/image"/><Relationship Id="rId12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2.png" Type="http://schemas.openxmlformats.org/officeDocument/2006/relationships/image"/><Relationship Id="rId8" Target="../media/image17.pn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065860" y="5243204"/>
            <a:ext cx="10534023" cy="4900745"/>
          </a:xfrm>
          <a:custGeom>
            <a:avLst/>
            <a:gdLst/>
            <a:ahLst/>
            <a:cxnLst/>
            <a:rect r="r" b="b" t="t" l="l"/>
            <a:pathLst>
              <a:path h="4900745" w="10534023">
                <a:moveTo>
                  <a:pt x="10534023" y="0"/>
                </a:moveTo>
                <a:lnTo>
                  <a:pt x="0" y="0"/>
                </a:lnTo>
                <a:lnTo>
                  <a:pt x="0" y="4900746"/>
                </a:lnTo>
                <a:lnTo>
                  <a:pt x="10534023" y="4900746"/>
                </a:lnTo>
                <a:lnTo>
                  <a:pt x="1053402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01117" y="5306124"/>
            <a:ext cx="10534023" cy="4900745"/>
          </a:xfrm>
          <a:custGeom>
            <a:avLst/>
            <a:gdLst/>
            <a:ahLst/>
            <a:cxnLst/>
            <a:rect r="r" b="b" t="t" l="l"/>
            <a:pathLst>
              <a:path h="4900745" w="10534023">
                <a:moveTo>
                  <a:pt x="0" y="0"/>
                </a:moveTo>
                <a:lnTo>
                  <a:pt x="10534023" y="0"/>
                </a:lnTo>
                <a:lnTo>
                  <a:pt x="10534023" y="4900745"/>
                </a:lnTo>
                <a:lnTo>
                  <a:pt x="0" y="4900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68956" y="9258300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86400" y="9258300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41756" y="9258300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9446" y="1583807"/>
            <a:ext cx="3446088" cy="1938424"/>
          </a:xfrm>
          <a:custGeom>
            <a:avLst/>
            <a:gdLst/>
            <a:ahLst/>
            <a:cxnLst/>
            <a:rect r="r" b="b" t="t" l="l"/>
            <a:pathLst>
              <a:path h="1938424" w="3446088">
                <a:moveTo>
                  <a:pt x="0" y="0"/>
                </a:moveTo>
                <a:lnTo>
                  <a:pt x="3446088" y="0"/>
                </a:lnTo>
                <a:lnTo>
                  <a:pt x="3446088" y="1938425"/>
                </a:lnTo>
                <a:lnTo>
                  <a:pt x="0" y="1938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147375" y="2776154"/>
            <a:ext cx="3837986" cy="2121360"/>
          </a:xfrm>
          <a:custGeom>
            <a:avLst/>
            <a:gdLst/>
            <a:ahLst/>
            <a:cxnLst/>
            <a:rect r="r" b="b" t="t" l="l"/>
            <a:pathLst>
              <a:path h="2121360" w="3837986">
                <a:moveTo>
                  <a:pt x="0" y="0"/>
                </a:moveTo>
                <a:lnTo>
                  <a:pt x="3837986" y="0"/>
                </a:lnTo>
                <a:lnTo>
                  <a:pt x="3837986" y="2121359"/>
                </a:lnTo>
                <a:lnTo>
                  <a:pt x="0" y="21213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897280" y="1127845"/>
            <a:ext cx="8010737" cy="354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18"/>
              </a:lnSpc>
            </a:pPr>
            <a:r>
              <a:rPr lang="en-US" sz="9218">
                <a:solidFill>
                  <a:srgbClr val="545454"/>
                </a:solidFill>
                <a:latin typeface="Genty Sans"/>
                <a:ea typeface="Genty Sans"/>
                <a:cs typeface="Genty Sans"/>
                <a:sym typeface="Genty Sans"/>
              </a:rPr>
              <a:t>Lea</a:t>
            </a:r>
            <a:r>
              <a:rPr lang="en-US" sz="9218">
                <a:solidFill>
                  <a:srgbClr val="545454"/>
                </a:solidFill>
                <a:latin typeface="Genty Sans"/>
                <a:ea typeface="Genty Sans"/>
                <a:cs typeface="Genty Sans"/>
                <a:sym typeface="Genty Sans"/>
              </a:rPr>
              <a:t>rning road safety in New Zealand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399356" y="-537552"/>
            <a:ext cx="3837986" cy="2121360"/>
          </a:xfrm>
          <a:custGeom>
            <a:avLst/>
            <a:gdLst/>
            <a:ahLst/>
            <a:cxnLst/>
            <a:rect r="r" b="b" t="t" l="l"/>
            <a:pathLst>
              <a:path h="2121360" w="3837986">
                <a:moveTo>
                  <a:pt x="0" y="0"/>
                </a:moveTo>
                <a:lnTo>
                  <a:pt x="3837986" y="0"/>
                </a:lnTo>
                <a:lnTo>
                  <a:pt x="3837986" y="2121359"/>
                </a:lnTo>
                <a:lnTo>
                  <a:pt x="0" y="21213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379279">
            <a:off x="12972615" y="685657"/>
            <a:ext cx="1054006" cy="1090119"/>
          </a:xfrm>
          <a:custGeom>
            <a:avLst/>
            <a:gdLst/>
            <a:ahLst/>
            <a:cxnLst/>
            <a:rect r="r" b="b" t="t" l="l"/>
            <a:pathLst>
              <a:path h="1090119" w="1054006">
                <a:moveTo>
                  <a:pt x="0" y="0"/>
                </a:moveTo>
                <a:lnTo>
                  <a:pt x="1054006" y="0"/>
                </a:lnTo>
                <a:lnTo>
                  <a:pt x="1054006" y="1090119"/>
                </a:lnTo>
                <a:lnTo>
                  <a:pt x="0" y="10901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772848" y="5919377"/>
            <a:ext cx="6259602" cy="124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6"/>
              </a:lnSpc>
            </a:pPr>
            <a:r>
              <a:rPr lang="en-US" sz="2730" b="true">
                <a:solidFill>
                  <a:srgbClr val="28232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GROUP 2</a:t>
            </a:r>
          </a:p>
          <a:p>
            <a:pPr algn="ctr">
              <a:lnSpc>
                <a:spcPts val="3276"/>
              </a:lnSpc>
            </a:pPr>
            <a:r>
              <a:rPr lang="en-US" sz="2730">
                <a:solidFill>
                  <a:srgbClr val="282325"/>
                </a:solidFill>
                <a:latin typeface="Quicksand"/>
                <a:ea typeface="Quicksand"/>
                <a:cs typeface="Quicksand"/>
                <a:sym typeface="Quicksand"/>
              </a:rPr>
              <a:t>Huijing ＆ Bharat</a:t>
            </a:r>
          </a:p>
          <a:p>
            <a:pPr algn="ctr">
              <a:lnSpc>
                <a:spcPts val="3276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240221" y="5394840"/>
            <a:ext cx="3324855" cy="414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6"/>
              </a:lnSpc>
            </a:pPr>
            <a:r>
              <a:rPr lang="en-US" sz="2730">
                <a:solidFill>
                  <a:srgbClr val="282325"/>
                </a:solidFill>
                <a:latin typeface="Quicksand"/>
                <a:ea typeface="Quicksand"/>
                <a:cs typeface="Quicksand"/>
                <a:sym typeface="Quicksand"/>
              </a:rPr>
              <a:t>Presented by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68956" y="9258300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431434" y="5554649"/>
            <a:ext cx="8977591" cy="4176646"/>
          </a:xfrm>
          <a:custGeom>
            <a:avLst/>
            <a:gdLst/>
            <a:ahLst/>
            <a:cxnLst/>
            <a:rect r="r" b="b" t="t" l="l"/>
            <a:pathLst>
              <a:path h="4176646" w="8977591">
                <a:moveTo>
                  <a:pt x="8977591" y="0"/>
                </a:moveTo>
                <a:lnTo>
                  <a:pt x="0" y="0"/>
                </a:lnTo>
                <a:lnTo>
                  <a:pt x="0" y="4176646"/>
                </a:lnTo>
                <a:lnTo>
                  <a:pt x="8977591" y="4176646"/>
                </a:lnTo>
                <a:lnTo>
                  <a:pt x="897759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86400" y="9258300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41756" y="9258300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93390" y="1699372"/>
            <a:ext cx="13476088" cy="594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9"/>
              </a:lnSpc>
            </a:pPr>
            <a:r>
              <a:rPr lang="en-US" sz="300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1.T</a:t>
            </a:r>
            <a:r>
              <a:rPr lang="en-US" sz="300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opic:</a:t>
            </a:r>
          </a:p>
          <a:p>
            <a:pPr algn="l">
              <a:lnSpc>
                <a:spcPts val="3609"/>
              </a:lnSpc>
            </a:pPr>
            <a:r>
              <a:rPr lang="en-US" sz="3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</a:t>
            </a:r>
            <a:r>
              <a:rPr lang="en-US" sz="3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arning Road Safety in</a:t>
            </a:r>
            <a:r>
              <a:rPr lang="en-US" sz="3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New Zealand th</a:t>
            </a:r>
            <a:r>
              <a:rPr lang="en-US" sz="3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rough an Interactive Game</a:t>
            </a:r>
          </a:p>
          <a:p>
            <a:pPr algn="l">
              <a:lnSpc>
                <a:spcPts val="3609"/>
              </a:lnSpc>
            </a:pPr>
            <a:r>
              <a:rPr lang="en-US" b="true" sz="30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</a:t>
            </a:r>
            <a:r>
              <a:rPr lang="en-US" b="true" sz="30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Scope:</a:t>
            </a:r>
          </a:p>
          <a:p>
            <a:pPr algn="l">
              <a:lnSpc>
                <a:spcPts val="3609"/>
              </a:lnSpc>
            </a:pPr>
            <a:r>
              <a:rPr lang="en-US" sz="3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educational game for learning basic NZ road-safety rules. </a:t>
            </a:r>
          </a:p>
          <a:p>
            <a:pPr algn="l">
              <a:lnSpc>
                <a:spcPts val="3609"/>
              </a:lnSpc>
            </a:pPr>
            <a:r>
              <a:rPr lang="en-US" sz="3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</a:t>
            </a:r>
            <a:r>
              <a:rPr lang="en-US" sz="3007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</a:t>
            </a:r>
            <a:r>
              <a:rPr lang="en-US" sz="3007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ocusing on:</a:t>
            </a:r>
          </a:p>
          <a:p>
            <a:pPr algn="l" marL="649319" indent="-324660" lvl="1">
              <a:lnSpc>
                <a:spcPts val="3609"/>
              </a:lnSpc>
              <a:buFont typeface="Arial"/>
              <a:buChar char="•"/>
            </a:pPr>
            <a:r>
              <a:rPr lang="en-US" sz="3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road signs</a:t>
            </a:r>
          </a:p>
          <a:p>
            <a:pPr algn="l" marL="649319" indent="-324660" lvl="1">
              <a:lnSpc>
                <a:spcPts val="3609"/>
              </a:lnSpc>
              <a:buFont typeface="Arial"/>
              <a:buChar char="•"/>
            </a:pPr>
            <a:r>
              <a:rPr lang="en-US" sz="3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give-way rules</a:t>
            </a:r>
          </a:p>
          <a:p>
            <a:pPr algn="l" marL="649319" indent="-324660" lvl="1">
              <a:lnSpc>
                <a:spcPts val="3609"/>
              </a:lnSpc>
              <a:buFont typeface="Arial"/>
              <a:buChar char="•"/>
            </a:pPr>
            <a:r>
              <a:rPr lang="en-US" sz="3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speed limits</a:t>
            </a:r>
          </a:p>
          <a:p>
            <a:pPr algn="l" marL="649319" indent="-324660" lvl="1">
              <a:lnSpc>
                <a:spcPts val="3609"/>
              </a:lnSpc>
              <a:buFont typeface="Arial"/>
              <a:buChar char="•"/>
            </a:pPr>
            <a:r>
              <a:rPr lang="en-US" sz="3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safe choices in simple traffic scenarios</a:t>
            </a:r>
          </a:p>
          <a:p>
            <a:pPr algn="l">
              <a:lnSpc>
                <a:spcPts val="3609"/>
              </a:lnSpc>
            </a:pPr>
            <a:r>
              <a:rPr lang="en-US" b="true" sz="30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</a:t>
            </a:r>
            <a:r>
              <a:rPr lang="en-US" b="true" sz="30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 of scope:</a:t>
            </a:r>
          </a:p>
          <a:p>
            <a:pPr algn="l">
              <a:lnSpc>
                <a:spcPts val="3609"/>
              </a:lnSpc>
            </a:pPr>
            <a:r>
              <a:rPr lang="en-US" sz="3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Real driving simulation, advanced driving skills, full licence test training.</a:t>
            </a:r>
          </a:p>
          <a:p>
            <a:pPr algn="just">
              <a:lnSpc>
                <a:spcPts val="3609"/>
              </a:lnSpc>
            </a:pPr>
          </a:p>
          <a:p>
            <a:pPr algn="just">
              <a:lnSpc>
                <a:spcPts val="360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764957" y="637533"/>
            <a:ext cx="8036643" cy="90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>
                <a:solidFill>
                  <a:srgbClr val="545454"/>
                </a:solidFill>
                <a:latin typeface="Genty Sans"/>
                <a:ea typeface="Genty Sans"/>
                <a:cs typeface="Genty Sans"/>
                <a:sym typeface="Genty Sans"/>
              </a:rPr>
              <a:t>1.Topic and Sc</a:t>
            </a:r>
            <a:r>
              <a:rPr lang="en-US" sz="6800">
                <a:solidFill>
                  <a:srgbClr val="545454"/>
                </a:solidFill>
                <a:latin typeface="Genty Sans"/>
                <a:ea typeface="Genty Sans"/>
                <a:cs typeface="Genty Sans"/>
                <a:sym typeface="Genty Sans"/>
              </a:rPr>
              <a:t>ope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6290188"/>
            <a:ext cx="7893351" cy="3672225"/>
          </a:xfrm>
          <a:custGeom>
            <a:avLst/>
            <a:gdLst/>
            <a:ahLst/>
            <a:cxnLst/>
            <a:rect r="r" b="b" t="t" l="l"/>
            <a:pathLst>
              <a:path h="3672225" w="7893351">
                <a:moveTo>
                  <a:pt x="7893351" y="0"/>
                </a:moveTo>
                <a:lnTo>
                  <a:pt x="0" y="0"/>
                </a:lnTo>
                <a:lnTo>
                  <a:pt x="0" y="3672225"/>
                </a:lnTo>
                <a:lnTo>
                  <a:pt x="7893351" y="3672225"/>
                </a:lnTo>
                <a:lnTo>
                  <a:pt x="789335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62386" y="6590749"/>
            <a:ext cx="7772754" cy="3616120"/>
          </a:xfrm>
          <a:custGeom>
            <a:avLst/>
            <a:gdLst/>
            <a:ahLst/>
            <a:cxnLst/>
            <a:rect r="r" b="b" t="t" l="l"/>
            <a:pathLst>
              <a:path h="3616120" w="7772754">
                <a:moveTo>
                  <a:pt x="0" y="0"/>
                </a:moveTo>
                <a:lnTo>
                  <a:pt x="7772754" y="0"/>
                </a:lnTo>
                <a:lnTo>
                  <a:pt x="7772754" y="3616120"/>
                </a:lnTo>
                <a:lnTo>
                  <a:pt x="0" y="36161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57290" y="932597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12646" y="932597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739846" y="932597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64834">
            <a:off x="15455463" y="1396444"/>
            <a:ext cx="2525018" cy="1537105"/>
          </a:xfrm>
          <a:custGeom>
            <a:avLst/>
            <a:gdLst/>
            <a:ahLst/>
            <a:cxnLst/>
            <a:rect r="r" b="b" t="t" l="l"/>
            <a:pathLst>
              <a:path h="1537105" w="2525018">
                <a:moveTo>
                  <a:pt x="0" y="0"/>
                </a:moveTo>
                <a:lnTo>
                  <a:pt x="2525018" y="0"/>
                </a:lnTo>
                <a:lnTo>
                  <a:pt x="2525018" y="1537105"/>
                </a:lnTo>
                <a:lnTo>
                  <a:pt x="0" y="1537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92485" y="809132"/>
            <a:ext cx="10903029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>
                <a:solidFill>
                  <a:srgbClr val="545454"/>
                </a:solidFill>
                <a:latin typeface="Genty Sans"/>
                <a:ea typeface="Genty Sans"/>
                <a:cs typeface="Genty Sans"/>
                <a:sym typeface="Genty Sans"/>
              </a:rPr>
              <a:t>2.Target Use</a:t>
            </a:r>
            <a:r>
              <a:rPr lang="en-US" sz="6800">
                <a:solidFill>
                  <a:srgbClr val="545454"/>
                </a:solidFill>
                <a:latin typeface="Genty Sans"/>
                <a:ea typeface="Genty Sans"/>
                <a:cs typeface="Genty Sans"/>
                <a:sym typeface="Genty Sans"/>
              </a:rPr>
              <a:t>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9187" y="2164997"/>
            <a:ext cx="15209627" cy="464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1"/>
              </a:lnSpc>
            </a:pPr>
            <a:r>
              <a:rPr lang="en-US" sz="300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1.Beginner</a:t>
            </a:r>
            <a:r>
              <a:rPr lang="en-US" b="true" sz="300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Road Safety Learners</a:t>
            </a:r>
          </a:p>
          <a:p>
            <a:pPr algn="l">
              <a:lnSpc>
                <a:spcPts val="3611"/>
              </a:lnSpc>
            </a:pPr>
            <a:r>
              <a:rPr lang="en-US" sz="30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30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eople who are new to NZ road rules and need simple guidance</a:t>
            </a:r>
            <a:r>
              <a:rPr lang="en-US" sz="30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3611"/>
              </a:lnSpc>
            </a:pPr>
          </a:p>
          <a:p>
            <a:pPr algn="l">
              <a:lnSpc>
                <a:spcPts val="3611"/>
              </a:lnSpc>
            </a:pPr>
            <a:r>
              <a:rPr lang="en-US" sz="300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</a:t>
            </a:r>
            <a:r>
              <a:rPr lang="en-US" sz="300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Young Learners / Students</a:t>
            </a:r>
          </a:p>
          <a:p>
            <a:pPr algn="l">
              <a:lnSpc>
                <a:spcPts val="3611"/>
              </a:lnSpc>
            </a:pPr>
            <a:r>
              <a:rPr lang="en-US" sz="30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Users who may find traditional road-code reading boring or difficult to remember.</a:t>
            </a:r>
          </a:p>
          <a:p>
            <a:pPr algn="l">
              <a:lnSpc>
                <a:spcPts val="3611"/>
              </a:lnSpc>
            </a:pPr>
          </a:p>
          <a:p>
            <a:pPr algn="l">
              <a:lnSpc>
                <a:spcPts val="3611"/>
              </a:lnSpc>
            </a:pPr>
            <a:r>
              <a:rPr lang="en-US" sz="300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</a:t>
            </a:r>
            <a:r>
              <a:rPr lang="en-US" sz="300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Newcomers to New Zealand</a:t>
            </a:r>
          </a:p>
          <a:p>
            <a:pPr algn="l">
              <a:lnSpc>
                <a:spcPts val="3611"/>
              </a:lnSpc>
            </a:pPr>
            <a:r>
              <a:rPr lang="en-US" sz="30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People u</a:t>
            </a:r>
            <a:r>
              <a:rPr lang="en-US" sz="30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nfamiliar with local signs, give-way rules, and driving expectations.</a:t>
            </a:r>
          </a:p>
          <a:p>
            <a:pPr algn="l">
              <a:lnSpc>
                <a:spcPts val="3871"/>
              </a:lnSpc>
            </a:pPr>
          </a:p>
          <a:p>
            <a:pPr algn="just">
              <a:lnSpc>
                <a:spcPts val="400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44045" y="6139184"/>
            <a:ext cx="10534023" cy="4900745"/>
          </a:xfrm>
          <a:custGeom>
            <a:avLst/>
            <a:gdLst/>
            <a:ahLst/>
            <a:cxnLst/>
            <a:rect r="r" b="b" t="t" l="l"/>
            <a:pathLst>
              <a:path h="4900745" w="10534023">
                <a:moveTo>
                  <a:pt x="10534024" y="0"/>
                </a:moveTo>
                <a:lnTo>
                  <a:pt x="0" y="0"/>
                </a:lnTo>
                <a:lnTo>
                  <a:pt x="0" y="4900746"/>
                </a:lnTo>
                <a:lnTo>
                  <a:pt x="10534024" y="4900746"/>
                </a:lnTo>
                <a:lnTo>
                  <a:pt x="1053402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22160" y="6139184"/>
            <a:ext cx="10534023" cy="4900745"/>
          </a:xfrm>
          <a:custGeom>
            <a:avLst/>
            <a:gdLst/>
            <a:ahLst/>
            <a:cxnLst/>
            <a:rect r="r" b="b" t="t" l="l"/>
            <a:pathLst>
              <a:path h="4900745" w="10534023">
                <a:moveTo>
                  <a:pt x="0" y="0"/>
                </a:moveTo>
                <a:lnTo>
                  <a:pt x="10534024" y="0"/>
                </a:lnTo>
                <a:lnTo>
                  <a:pt x="10534024" y="4900746"/>
                </a:lnTo>
                <a:lnTo>
                  <a:pt x="0" y="4900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68956" y="9871481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86400" y="9871481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41756" y="9871481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44488" y="957039"/>
            <a:ext cx="2920741" cy="1614373"/>
          </a:xfrm>
          <a:custGeom>
            <a:avLst/>
            <a:gdLst/>
            <a:ahLst/>
            <a:cxnLst/>
            <a:rect r="r" b="b" t="t" l="l"/>
            <a:pathLst>
              <a:path h="1614373" w="2920741">
                <a:moveTo>
                  <a:pt x="0" y="0"/>
                </a:moveTo>
                <a:lnTo>
                  <a:pt x="2920741" y="0"/>
                </a:lnTo>
                <a:lnTo>
                  <a:pt x="2920741" y="1614374"/>
                </a:lnTo>
                <a:lnTo>
                  <a:pt x="0" y="1614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56310" y="3464882"/>
            <a:ext cx="1806736" cy="998632"/>
          </a:xfrm>
          <a:custGeom>
            <a:avLst/>
            <a:gdLst/>
            <a:ahLst/>
            <a:cxnLst/>
            <a:rect r="r" b="b" t="t" l="l"/>
            <a:pathLst>
              <a:path h="998632" w="1806736">
                <a:moveTo>
                  <a:pt x="0" y="0"/>
                </a:moveTo>
                <a:lnTo>
                  <a:pt x="1806736" y="0"/>
                </a:lnTo>
                <a:lnTo>
                  <a:pt x="1806736" y="998632"/>
                </a:lnTo>
                <a:lnTo>
                  <a:pt x="0" y="9986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8100000">
            <a:off x="17253800" y="2105546"/>
            <a:ext cx="759178" cy="1092342"/>
          </a:xfrm>
          <a:custGeom>
            <a:avLst/>
            <a:gdLst/>
            <a:ahLst/>
            <a:cxnLst/>
            <a:rect r="r" b="b" t="t" l="l"/>
            <a:pathLst>
              <a:path h="1092342" w="759178">
                <a:moveTo>
                  <a:pt x="0" y="0"/>
                </a:moveTo>
                <a:lnTo>
                  <a:pt x="759178" y="0"/>
                </a:lnTo>
                <a:lnTo>
                  <a:pt x="759178" y="1092342"/>
                </a:lnTo>
                <a:lnTo>
                  <a:pt x="0" y="10923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938186" y="1997105"/>
            <a:ext cx="6388618" cy="3146395"/>
          </a:xfrm>
          <a:custGeom>
            <a:avLst/>
            <a:gdLst/>
            <a:ahLst/>
            <a:cxnLst/>
            <a:rect r="r" b="b" t="t" l="l"/>
            <a:pathLst>
              <a:path h="3146395" w="6388618">
                <a:moveTo>
                  <a:pt x="0" y="0"/>
                </a:moveTo>
                <a:lnTo>
                  <a:pt x="6388618" y="0"/>
                </a:lnTo>
                <a:lnTo>
                  <a:pt x="6388618" y="3146395"/>
                </a:lnTo>
                <a:lnTo>
                  <a:pt x="0" y="31463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938186" y="5768151"/>
            <a:ext cx="6390460" cy="3370967"/>
          </a:xfrm>
          <a:custGeom>
            <a:avLst/>
            <a:gdLst/>
            <a:ahLst/>
            <a:cxnLst/>
            <a:rect r="r" b="b" t="t" l="l"/>
            <a:pathLst>
              <a:path h="3370967" w="6390460">
                <a:moveTo>
                  <a:pt x="0" y="0"/>
                </a:moveTo>
                <a:lnTo>
                  <a:pt x="6390459" y="0"/>
                </a:lnTo>
                <a:lnTo>
                  <a:pt x="6390459" y="3370967"/>
                </a:lnTo>
                <a:lnTo>
                  <a:pt x="0" y="33709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075816"/>
            <a:ext cx="9837140" cy="744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0"/>
              </a:lnSpc>
            </a:pPr>
            <a:r>
              <a:rPr lang="en-US" sz="311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Existing Tools</a:t>
            </a:r>
          </a:p>
          <a:p>
            <a:pPr algn="just">
              <a:lnSpc>
                <a:spcPts val="3110"/>
              </a:lnSpc>
            </a:pPr>
          </a:p>
          <a:p>
            <a:pPr algn="just">
              <a:lnSpc>
                <a:spcPts val="3110"/>
              </a:lnSpc>
            </a:pPr>
          </a:p>
          <a:p>
            <a:pPr algn="just">
              <a:lnSpc>
                <a:spcPts val="3110"/>
              </a:lnSpc>
            </a:pPr>
            <a:r>
              <a:rPr lang="en-US" sz="31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Drive Road Code</a:t>
            </a:r>
          </a:p>
          <a:p>
            <a:pPr algn="just">
              <a:lnSpc>
                <a:spcPts val="3110"/>
              </a:lnSpc>
            </a:pPr>
          </a:p>
          <a:p>
            <a:pPr algn="just">
              <a:lnSpc>
                <a:spcPts val="3110"/>
              </a:lnSpc>
            </a:pPr>
          </a:p>
          <a:p>
            <a:pPr algn="just">
              <a:lnSpc>
                <a:spcPts val="3110"/>
              </a:lnSpc>
            </a:pPr>
          </a:p>
          <a:p>
            <a:pPr algn="just">
              <a:lnSpc>
                <a:spcPts val="3110"/>
              </a:lnSpc>
            </a:pPr>
          </a:p>
          <a:p>
            <a:pPr algn="just">
              <a:lnSpc>
                <a:spcPts val="3110"/>
              </a:lnSpc>
            </a:pPr>
          </a:p>
          <a:p>
            <a:pPr algn="just">
              <a:lnSpc>
                <a:spcPts val="3110"/>
              </a:lnSpc>
            </a:pPr>
          </a:p>
          <a:p>
            <a:pPr algn="just">
              <a:lnSpc>
                <a:spcPts val="3110"/>
              </a:lnSpc>
            </a:pPr>
          </a:p>
          <a:p>
            <a:pPr algn="just">
              <a:lnSpc>
                <a:spcPts val="3110"/>
              </a:lnSpc>
            </a:pPr>
          </a:p>
          <a:p>
            <a:pPr algn="just">
              <a:lnSpc>
                <a:spcPts val="3110"/>
              </a:lnSpc>
            </a:pPr>
          </a:p>
          <a:p>
            <a:pPr algn="just">
              <a:lnSpc>
                <a:spcPts val="3110"/>
              </a:lnSpc>
            </a:pPr>
            <a:r>
              <a:rPr lang="en-US" sz="31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DrivingTests.co.nz</a:t>
            </a:r>
          </a:p>
          <a:p>
            <a:pPr algn="just">
              <a:lnSpc>
                <a:spcPts val="3110"/>
              </a:lnSpc>
            </a:pPr>
          </a:p>
          <a:p>
            <a:pPr algn="just">
              <a:lnSpc>
                <a:spcPts val="3110"/>
              </a:lnSpc>
            </a:pPr>
          </a:p>
          <a:p>
            <a:pPr algn="just">
              <a:lnSpc>
                <a:spcPts val="3110"/>
              </a:lnSpc>
            </a:pPr>
          </a:p>
          <a:p>
            <a:pPr algn="just">
              <a:lnSpc>
                <a:spcPts val="3110"/>
              </a:lnSpc>
            </a:pPr>
          </a:p>
          <a:p>
            <a:pPr algn="ctr">
              <a:lnSpc>
                <a:spcPts val="311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356310" y="565879"/>
            <a:ext cx="14207486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45454"/>
                </a:solidFill>
                <a:latin typeface="Genty Sans"/>
                <a:ea typeface="Genty Sans"/>
                <a:cs typeface="Genty Sans"/>
                <a:sym typeface="Genty Sans"/>
              </a:rPr>
              <a:t>3.Resea</a:t>
            </a:r>
            <a:r>
              <a:rPr lang="en-US" sz="6800" b="true">
                <a:solidFill>
                  <a:srgbClr val="545454"/>
                </a:solidFill>
                <a:latin typeface="Genty Sans"/>
                <a:ea typeface="Genty Sans"/>
                <a:cs typeface="Genty Sans"/>
                <a:sym typeface="Genty Sans"/>
              </a:rPr>
              <a:t>rch Gap / Opportunities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57290" y="932597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12646" y="932597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39846" y="932597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50034" y="927538"/>
            <a:ext cx="11789718" cy="741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32"/>
              </a:lnSpc>
            </a:pPr>
            <a:r>
              <a:rPr lang="en-US" sz="311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Gap from Existing Tools</a:t>
            </a:r>
          </a:p>
          <a:p>
            <a:pPr algn="just">
              <a:lnSpc>
                <a:spcPts val="3372"/>
              </a:lnSpc>
            </a:pPr>
            <a:r>
              <a:rPr lang="en-US" sz="2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Many</a:t>
            </a:r>
            <a:r>
              <a:rPr lang="en-US" sz="2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tools focus on reading, quizzes, and mock tests</a:t>
            </a:r>
          </a:p>
          <a:p>
            <a:pPr algn="just">
              <a:lnSpc>
                <a:spcPts val="3372"/>
              </a:lnSpc>
            </a:pPr>
            <a:r>
              <a:rPr lang="en-US" sz="2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2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Learners may know rules, but struggle to apply them in scenarios</a:t>
            </a:r>
          </a:p>
          <a:p>
            <a:pPr algn="just">
              <a:lnSpc>
                <a:spcPts val="3732"/>
              </a:lnSpc>
            </a:pPr>
            <a:r>
              <a:rPr lang="en-US" sz="31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31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Practice may not feel engaging enough for repeated learning.</a:t>
            </a:r>
          </a:p>
          <a:p>
            <a:pPr algn="just">
              <a:lnSpc>
                <a:spcPts val="3732"/>
              </a:lnSpc>
            </a:pPr>
          </a:p>
          <a:p>
            <a:pPr algn="just">
              <a:lnSpc>
                <a:spcPts val="3732"/>
              </a:lnSpc>
            </a:pPr>
            <a:r>
              <a:rPr lang="en-US" b="true" sz="311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Findings</a:t>
            </a:r>
          </a:p>
          <a:p>
            <a:pPr algn="just">
              <a:lnSpc>
                <a:spcPts val="3372"/>
              </a:lnSpc>
            </a:pPr>
            <a:r>
              <a:rPr lang="en-US" sz="2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Behaviourism: feedback + repetition</a:t>
            </a:r>
          </a:p>
          <a:p>
            <a:pPr algn="just">
              <a:lnSpc>
                <a:spcPts val="3372"/>
              </a:lnSpc>
            </a:pPr>
            <a:r>
              <a:rPr lang="en-US" sz="2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Cognitivism: small chunks</a:t>
            </a:r>
          </a:p>
          <a:p>
            <a:pPr algn="just">
              <a:lnSpc>
                <a:spcPts val="3372"/>
              </a:lnSpc>
            </a:pPr>
            <a:r>
              <a:rPr lang="en-US" sz="2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Constructivism: prior experience</a:t>
            </a:r>
          </a:p>
          <a:p>
            <a:pPr algn="just">
              <a:lnSpc>
                <a:spcPts val="3372"/>
              </a:lnSpc>
            </a:pPr>
            <a:r>
              <a:rPr lang="en-US" sz="2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Experientialism: scenarios</a:t>
            </a:r>
          </a:p>
          <a:p>
            <a:pPr algn="just">
              <a:lnSpc>
                <a:spcPts val="3372"/>
              </a:lnSpc>
            </a:pPr>
            <a:r>
              <a:rPr lang="en-US" sz="2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AI: personalised feedback, accuracy concerns</a:t>
            </a:r>
          </a:p>
          <a:p>
            <a:pPr algn="just">
              <a:lnSpc>
                <a:spcPts val="3732"/>
              </a:lnSpc>
            </a:pPr>
          </a:p>
          <a:p>
            <a:pPr algn="just">
              <a:lnSpc>
                <a:spcPts val="3732"/>
              </a:lnSpc>
            </a:pPr>
            <a:r>
              <a:rPr lang="en-US" b="true" sz="311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Our Opportunity</a:t>
            </a:r>
          </a:p>
          <a:p>
            <a:pPr algn="just">
              <a:lnSpc>
                <a:spcPts val="3372"/>
              </a:lnSpc>
            </a:pPr>
            <a:r>
              <a:rPr lang="en-US" sz="2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Turn road-code learning into playable challenges</a:t>
            </a:r>
          </a:p>
          <a:p>
            <a:pPr algn="just">
              <a:lnSpc>
                <a:spcPts val="3372"/>
              </a:lnSpc>
            </a:pPr>
            <a:r>
              <a:rPr lang="en-US" sz="2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Design short levels for signs, speed limits, and give-way rules</a:t>
            </a:r>
          </a:p>
          <a:p>
            <a:pPr algn="just">
              <a:lnSpc>
                <a:spcPts val="3372"/>
              </a:lnSpc>
            </a:pPr>
            <a:r>
              <a:rPr lang="en-US" sz="2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Let players make safe choices in road scenarios</a:t>
            </a:r>
          </a:p>
          <a:p>
            <a:pPr algn="just">
              <a:lnSpc>
                <a:spcPts val="3372"/>
              </a:lnSpc>
            </a:pPr>
            <a:r>
              <a:rPr lang="en-US" sz="2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Give instant feedback, points, and progress rewards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441820" y="3377186"/>
            <a:ext cx="3192292" cy="1456483"/>
          </a:xfrm>
          <a:custGeom>
            <a:avLst/>
            <a:gdLst/>
            <a:ahLst/>
            <a:cxnLst/>
            <a:rect r="r" b="b" t="t" l="l"/>
            <a:pathLst>
              <a:path h="1456483" w="3192292">
                <a:moveTo>
                  <a:pt x="0" y="0"/>
                </a:moveTo>
                <a:lnTo>
                  <a:pt x="3192292" y="0"/>
                </a:lnTo>
                <a:lnTo>
                  <a:pt x="3192292" y="1456483"/>
                </a:lnTo>
                <a:lnTo>
                  <a:pt x="0" y="14564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6409" y="7113005"/>
            <a:ext cx="2379529" cy="2449966"/>
          </a:xfrm>
          <a:custGeom>
            <a:avLst/>
            <a:gdLst/>
            <a:ahLst/>
            <a:cxnLst/>
            <a:rect r="r" b="b" t="t" l="l"/>
            <a:pathLst>
              <a:path h="2449966" w="2379529">
                <a:moveTo>
                  <a:pt x="2379530" y="0"/>
                </a:moveTo>
                <a:lnTo>
                  <a:pt x="0" y="0"/>
                </a:lnTo>
                <a:lnTo>
                  <a:pt x="0" y="2449966"/>
                </a:lnTo>
                <a:lnTo>
                  <a:pt x="2379530" y="2449966"/>
                </a:lnTo>
                <a:lnTo>
                  <a:pt x="237953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57290" y="932597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12646" y="932597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39846" y="932597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54881" y="647784"/>
            <a:ext cx="1907478" cy="1160383"/>
          </a:xfrm>
          <a:custGeom>
            <a:avLst/>
            <a:gdLst/>
            <a:ahLst/>
            <a:cxnLst/>
            <a:rect r="r" b="b" t="t" l="l"/>
            <a:pathLst>
              <a:path h="1160383" w="1907478">
                <a:moveTo>
                  <a:pt x="0" y="0"/>
                </a:moveTo>
                <a:lnTo>
                  <a:pt x="1907478" y="0"/>
                </a:lnTo>
                <a:lnTo>
                  <a:pt x="1907478" y="1160383"/>
                </a:lnTo>
                <a:lnTo>
                  <a:pt x="0" y="11603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575311" y="4903605"/>
            <a:ext cx="2363908" cy="2489416"/>
          </a:xfrm>
          <a:custGeom>
            <a:avLst/>
            <a:gdLst/>
            <a:ahLst/>
            <a:cxnLst/>
            <a:rect r="r" b="b" t="t" l="l"/>
            <a:pathLst>
              <a:path h="2489416" w="2363908">
                <a:moveTo>
                  <a:pt x="2363909" y="0"/>
                </a:moveTo>
                <a:lnTo>
                  <a:pt x="0" y="0"/>
                </a:lnTo>
                <a:lnTo>
                  <a:pt x="0" y="2489416"/>
                </a:lnTo>
                <a:lnTo>
                  <a:pt x="2363909" y="2489416"/>
                </a:lnTo>
                <a:lnTo>
                  <a:pt x="2363909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19960" y="3507288"/>
            <a:ext cx="10631659" cy="3885733"/>
          </a:xfrm>
          <a:custGeom>
            <a:avLst/>
            <a:gdLst/>
            <a:ahLst/>
            <a:cxnLst/>
            <a:rect r="r" b="b" t="t" l="l"/>
            <a:pathLst>
              <a:path h="3885733" w="10631659">
                <a:moveTo>
                  <a:pt x="0" y="0"/>
                </a:moveTo>
                <a:lnTo>
                  <a:pt x="10631658" y="0"/>
                </a:lnTo>
                <a:lnTo>
                  <a:pt x="10631658" y="3885733"/>
                </a:lnTo>
                <a:lnTo>
                  <a:pt x="0" y="38857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635" r="-29592" b="-163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1888" y="8459821"/>
            <a:ext cx="17045746" cy="706329"/>
          </a:xfrm>
          <a:custGeom>
            <a:avLst/>
            <a:gdLst/>
            <a:ahLst/>
            <a:cxnLst/>
            <a:rect r="r" b="b" t="t" l="l"/>
            <a:pathLst>
              <a:path h="706329" w="17045746">
                <a:moveTo>
                  <a:pt x="0" y="0"/>
                </a:moveTo>
                <a:lnTo>
                  <a:pt x="17045746" y="0"/>
                </a:lnTo>
                <a:lnTo>
                  <a:pt x="17045746" y="706329"/>
                </a:lnTo>
                <a:lnTo>
                  <a:pt x="0" y="7063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5415" r="0" b="-2541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13704" y="836816"/>
            <a:ext cx="8927774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45454"/>
                </a:solidFill>
                <a:latin typeface="Genty Sans"/>
                <a:ea typeface="Genty Sans"/>
                <a:cs typeface="Genty Sans"/>
                <a:sym typeface="Genty Sans"/>
              </a:rPr>
              <a:t>4.Lea</a:t>
            </a:r>
            <a:r>
              <a:rPr lang="en-US" sz="6800" b="true">
                <a:solidFill>
                  <a:srgbClr val="545454"/>
                </a:solidFill>
                <a:latin typeface="Genty Sans"/>
                <a:ea typeface="Genty Sans"/>
                <a:cs typeface="Genty Sans"/>
                <a:sym typeface="Genty Sans"/>
              </a:rPr>
              <a:t>rning Outcomes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19960" y="2863773"/>
            <a:ext cx="9649603" cy="1344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311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the end of the game,learners should be able to:</a:t>
            </a:r>
          </a:p>
          <a:p>
            <a:pPr algn="l">
              <a:lnSpc>
                <a:spcPts val="3110"/>
              </a:lnSpc>
            </a:pPr>
          </a:p>
          <a:p>
            <a:pPr algn="l">
              <a:lnSpc>
                <a:spcPts val="553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035610" y="5868752"/>
            <a:ext cx="10534023" cy="4900745"/>
          </a:xfrm>
          <a:custGeom>
            <a:avLst/>
            <a:gdLst/>
            <a:ahLst/>
            <a:cxnLst/>
            <a:rect r="r" b="b" t="t" l="l"/>
            <a:pathLst>
              <a:path h="4900745" w="10534023">
                <a:moveTo>
                  <a:pt x="10534023" y="0"/>
                </a:moveTo>
                <a:lnTo>
                  <a:pt x="0" y="0"/>
                </a:lnTo>
                <a:lnTo>
                  <a:pt x="0" y="4900746"/>
                </a:lnTo>
                <a:lnTo>
                  <a:pt x="10534023" y="4900746"/>
                </a:lnTo>
                <a:lnTo>
                  <a:pt x="1053402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31367" y="5931671"/>
            <a:ext cx="10534023" cy="4900745"/>
          </a:xfrm>
          <a:custGeom>
            <a:avLst/>
            <a:gdLst/>
            <a:ahLst/>
            <a:cxnLst/>
            <a:rect r="r" b="b" t="t" l="l"/>
            <a:pathLst>
              <a:path h="4900745" w="10534023">
                <a:moveTo>
                  <a:pt x="0" y="0"/>
                </a:moveTo>
                <a:lnTo>
                  <a:pt x="10534023" y="0"/>
                </a:lnTo>
                <a:lnTo>
                  <a:pt x="10534023" y="4900746"/>
                </a:lnTo>
                <a:lnTo>
                  <a:pt x="0" y="4900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57290" y="932597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12646" y="932597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739846" y="932597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8233" y="2384370"/>
            <a:ext cx="2920741" cy="1614373"/>
          </a:xfrm>
          <a:custGeom>
            <a:avLst/>
            <a:gdLst/>
            <a:ahLst/>
            <a:cxnLst/>
            <a:rect r="r" b="b" t="t" l="l"/>
            <a:pathLst>
              <a:path h="1614373" w="2920741">
                <a:moveTo>
                  <a:pt x="0" y="0"/>
                </a:moveTo>
                <a:lnTo>
                  <a:pt x="2920741" y="0"/>
                </a:lnTo>
                <a:lnTo>
                  <a:pt x="2920741" y="1614374"/>
                </a:lnTo>
                <a:lnTo>
                  <a:pt x="0" y="1614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175543" y="3529127"/>
            <a:ext cx="2920741" cy="1614373"/>
          </a:xfrm>
          <a:custGeom>
            <a:avLst/>
            <a:gdLst/>
            <a:ahLst/>
            <a:cxnLst/>
            <a:rect r="r" b="b" t="t" l="l"/>
            <a:pathLst>
              <a:path h="1614373" w="2920741">
                <a:moveTo>
                  <a:pt x="0" y="0"/>
                </a:moveTo>
                <a:lnTo>
                  <a:pt x="2920741" y="0"/>
                </a:lnTo>
                <a:lnTo>
                  <a:pt x="2920741" y="1614373"/>
                </a:lnTo>
                <a:lnTo>
                  <a:pt x="0" y="16143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20598" y="695246"/>
            <a:ext cx="2208006" cy="1689125"/>
          </a:xfrm>
          <a:custGeom>
            <a:avLst/>
            <a:gdLst/>
            <a:ahLst/>
            <a:cxnLst/>
            <a:rect r="r" b="b" t="t" l="l"/>
            <a:pathLst>
              <a:path h="1689125" w="2208006">
                <a:moveTo>
                  <a:pt x="0" y="0"/>
                </a:moveTo>
                <a:lnTo>
                  <a:pt x="2208006" y="0"/>
                </a:lnTo>
                <a:lnTo>
                  <a:pt x="2208006" y="1689124"/>
                </a:lnTo>
                <a:lnTo>
                  <a:pt x="0" y="16891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114247">
            <a:off x="16267099" y="4761620"/>
            <a:ext cx="715003" cy="739501"/>
          </a:xfrm>
          <a:custGeom>
            <a:avLst/>
            <a:gdLst/>
            <a:ahLst/>
            <a:cxnLst/>
            <a:rect r="r" b="b" t="t" l="l"/>
            <a:pathLst>
              <a:path h="739501" w="715003">
                <a:moveTo>
                  <a:pt x="0" y="0"/>
                </a:moveTo>
                <a:lnTo>
                  <a:pt x="715003" y="0"/>
                </a:lnTo>
                <a:lnTo>
                  <a:pt x="715003" y="739501"/>
                </a:lnTo>
                <a:lnTo>
                  <a:pt x="0" y="7395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95703" y="2384370"/>
            <a:ext cx="15696595" cy="5925464"/>
          </a:xfrm>
          <a:custGeom>
            <a:avLst/>
            <a:gdLst/>
            <a:ahLst/>
            <a:cxnLst/>
            <a:rect r="r" b="b" t="t" l="l"/>
            <a:pathLst>
              <a:path h="5925464" w="15696595">
                <a:moveTo>
                  <a:pt x="0" y="0"/>
                </a:moveTo>
                <a:lnTo>
                  <a:pt x="15696594" y="0"/>
                </a:lnTo>
                <a:lnTo>
                  <a:pt x="15696594" y="5925465"/>
                </a:lnTo>
                <a:lnTo>
                  <a:pt x="0" y="592546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962933" y="1148648"/>
            <a:ext cx="10303914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b="true" sz="6800">
                <a:solidFill>
                  <a:srgbClr val="545454"/>
                </a:solidFill>
                <a:latin typeface="Genty Sans"/>
                <a:ea typeface="Genty Sans"/>
                <a:cs typeface="Genty Sans"/>
                <a:sym typeface="Genty Sans"/>
              </a:rPr>
              <a:t>5.PROJ</a:t>
            </a:r>
            <a:r>
              <a:rPr lang="en-US" b="true" sz="6800">
                <a:solidFill>
                  <a:srgbClr val="545454"/>
                </a:solidFill>
                <a:latin typeface="Genty Sans"/>
                <a:ea typeface="Genty Sans"/>
                <a:cs typeface="Genty Sans"/>
                <a:sym typeface="Genty Sans"/>
              </a:rPr>
              <a:t>ECT PLAN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065860" y="5243204"/>
            <a:ext cx="10534023" cy="4900745"/>
          </a:xfrm>
          <a:custGeom>
            <a:avLst/>
            <a:gdLst/>
            <a:ahLst/>
            <a:cxnLst/>
            <a:rect r="r" b="b" t="t" l="l"/>
            <a:pathLst>
              <a:path h="4900745" w="10534023">
                <a:moveTo>
                  <a:pt x="10534023" y="0"/>
                </a:moveTo>
                <a:lnTo>
                  <a:pt x="0" y="0"/>
                </a:lnTo>
                <a:lnTo>
                  <a:pt x="0" y="4900746"/>
                </a:lnTo>
                <a:lnTo>
                  <a:pt x="10534023" y="4900746"/>
                </a:lnTo>
                <a:lnTo>
                  <a:pt x="1053402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01117" y="5306124"/>
            <a:ext cx="10534023" cy="4900745"/>
          </a:xfrm>
          <a:custGeom>
            <a:avLst/>
            <a:gdLst/>
            <a:ahLst/>
            <a:cxnLst/>
            <a:rect r="r" b="b" t="t" l="l"/>
            <a:pathLst>
              <a:path h="4900745" w="10534023">
                <a:moveTo>
                  <a:pt x="0" y="0"/>
                </a:moveTo>
                <a:lnTo>
                  <a:pt x="10534023" y="0"/>
                </a:lnTo>
                <a:lnTo>
                  <a:pt x="10534023" y="4900745"/>
                </a:lnTo>
                <a:lnTo>
                  <a:pt x="0" y="4900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68956" y="9258300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86400" y="9258300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01600" y="9258300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30497">
            <a:off x="15107514" y="620444"/>
            <a:ext cx="3409283" cy="2477412"/>
          </a:xfrm>
          <a:custGeom>
            <a:avLst/>
            <a:gdLst/>
            <a:ahLst/>
            <a:cxnLst/>
            <a:rect r="r" b="b" t="t" l="l"/>
            <a:pathLst>
              <a:path h="2477412" w="3409283">
                <a:moveTo>
                  <a:pt x="0" y="0"/>
                </a:moveTo>
                <a:lnTo>
                  <a:pt x="3409283" y="0"/>
                </a:lnTo>
                <a:lnTo>
                  <a:pt x="3409283" y="2477413"/>
                </a:lnTo>
                <a:lnTo>
                  <a:pt x="0" y="24774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923258" y="985423"/>
            <a:ext cx="2363908" cy="2489416"/>
          </a:xfrm>
          <a:custGeom>
            <a:avLst/>
            <a:gdLst/>
            <a:ahLst/>
            <a:cxnLst/>
            <a:rect r="r" b="b" t="t" l="l"/>
            <a:pathLst>
              <a:path h="2489416" w="2363908">
                <a:moveTo>
                  <a:pt x="2363908" y="0"/>
                </a:moveTo>
                <a:lnTo>
                  <a:pt x="0" y="0"/>
                </a:lnTo>
                <a:lnTo>
                  <a:pt x="0" y="2489417"/>
                </a:lnTo>
                <a:lnTo>
                  <a:pt x="2363908" y="2489417"/>
                </a:lnTo>
                <a:lnTo>
                  <a:pt x="2363908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167458" y="3474840"/>
            <a:ext cx="2920741" cy="1614373"/>
          </a:xfrm>
          <a:custGeom>
            <a:avLst/>
            <a:gdLst/>
            <a:ahLst/>
            <a:cxnLst/>
            <a:rect r="r" b="b" t="t" l="l"/>
            <a:pathLst>
              <a:path h="1614373" w="2920741">
                <a:moveTo>
                  <a:pt x="0" y="0"/>
                </a:moveTo>
                <a:lnTo>
                  <a:pt x="2920741" y="0"/>
                </a:lnTo>
                <a:lnTo>
                  <a:pt x="2920741" y="1614373"/>
                </a:lnTo>
                <a:lnTo>
                  <a:pt x="0" y="16143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768956" y="3691750"/>
            <a:ext cx="2920741" cy="1614373"/>
          </a:xfrm>
          <a:custGeom>
            <a:avLst/>
            <a:gdLst/>
            <a:ahLst/>
            <a:cxnLst/>
            <a:rect r="r" b="b" t="t" l="l"/>
            <a:pathLst>
              <a:path h="1614373" w="2920741">
                <a:moveTo>
                  <a:pt x="0" y="0"/>
                </a:moveTo>
                <a:lnTo>
                  <a:pt x="2920741" y="0"/>
                </a:lnTo>
                <a:lnTo>
                  <a:pt x="2920741" y="1614374"/>
                </a:lnTo>
                <a:lnTo>
                  <a:pt x="0" y="16143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444002">
            <a:off x="1085392" y="4321027"/>
            <a:ext cx="595738" cy="857177"/>
          </a:xfrm>
          <a:custGeom>
            <a:avLst/>
            <a:gdLst/>
            <a:ahLst/>
            <a:cxnLst/>
            <a:rect r="r" b="b" t="t" l="l"/>
            <a:pathLst>
              <a:path h="857177" w="595738">
                <a:moveTo>
                  <a:pt x="0" y="0"/>
                </a:moveTo>
                <a:lnTo>
                  <a:pt x="595739" y="0"/>
                </a:lnTo>
                <a:lnTo>
                  <a:pt x="595739" y="857177"/>
                </a:lnTo>
                <a:lnTo>
                  <a:pt x="0" y="8571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379279">
            <a:off x="11886177" y="917005"/>
            <a:ext cx="1054006" cy="1090119"/>
          </a:xfrm>
          <a:custGeom>
            <a:avLst/>
            <a:gdLst/>
            <a:ahLst/>
            <a:cxnLst/>
            <a:rect r="r" b="b" t="t" l="l"/>
            <a:pathLst>
              <a:path h="1090119" w="1054006">
                <a:moveTo>
                  <a:pt x="0" y="0"/>
                </a:moveTo>
                <a:lnTo>
                  <a:pt x="1054006" y="0"/>
                </a:lnTo>
                <a:lnTo>
                  <a:pt x="1054006" y="1090119"/>
                </a:lnTo>
                <a:lnTo>
                  <a:pt x="0" y="10901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611016" y="3362521"/>
            <a:ext cx="11065967" cy="1726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84"/>
              </a:lnSpc>
            </a:pPr>
            <a:r>
              <a:rPr lang="en-US" sz="14400">
                <a:solidFill>
                  <a:srgbClr val="545454"/>
                </a:solidFill>
                <a:latin typeface="Genty Sans"/>
                <a:ea typeface="Genty Sans"/>
                <a:cs typeface="Genty Sans"/>
                <a:sym typeface="Genty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DAHJQehlF0A</dc:identifier>
  <dcterms:modified xsi:type="dcterms:W3CDTF">2011-08-01T06:04:30Z</dcterms:modified>
  <cp:revision>1</cp:revision>
  <dc:title>Learning road safety in New Zealand</dc:title>
</cp:coreProperties>
</file>